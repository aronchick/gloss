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Annual Revenue by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42.3</c:v>
                </c:pt>
                <c:pt idx="1">
                  <c:v>28.7</c:v>
                </c:pt>
                <c:pt idx="2">
                  <c:v>19.4</c:v>
                </c:pt>
                <c:pt idx="3">
                  <c:v>8.1</c:v>
                </c:pt>
                <c:pt idx="4">
                  <c:v>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51.8</c:v>
                </c:pt>
                <c:pt idx="1">
                  <c:v>35.2</c:v>
                </c:pt>
                <c:pt idx="2">
                  <c:v>31.6</c:v>
                </c:pt>
                <c:pt idx="3">
                  <c:v>12.4</c:v>
                </c:pt>
                <c:pt idx="4">
                  <c:v>7.2</c:v>
                </c:pt>
              </c:numCache>
            </c:numRef>
          </c:val>
        </c:ser>
        <c:axId val="2000000010"/>
        <c:axId val="2000000011"/>
      </c:barChart>
      <c:catAx>
        <c:axId val="2000000010"/>
        <c:scaling>
          <c:orientation val="minMax"/>
        </c:scaling>
        <c:delete val="0"/>
        <c:axPos val="l"/>
        <c:majorTickMark val="out"/>
        <c:minorTickMark val="none"/>
        <c:tickLblPos val="nextTo"/>
        <c:crossAx val="2000000011"/>
        <c:crosses val="autoZero"/>
        <c:auto val="1"/>
        <c:lblAlgn val="ctr"/>
        <c:lblOffset val="100"/>
        <c:noMultiLvlLbl val="0"/>
      </c:catAx>
      <c:valAx>
        <c:axId val="2000000011"/>
        <c:scaling/>
        <c:delete val="0"/>
        <c:axPos val="b"/>
        <c:majorGridlines/>
        <c:majorTickMark val="out"/>
        <c:minorTickMark val="none"/>
        <c:tickLblPos val="nextTo"/>
        <c:crossAx val="200000001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Structure</c:v>
                </c:pt>
                <c:pt idx="1">
                  <c:v>Text</c:v>
                </c:pt>
                <c:pt idx="2">
                  <c:v>Visual</c:v>
                </c:pt>
                <c:pt idx="3">
                  <c:v>Assets</c:v>
                </c:pt>
                <c:pt idx="4">
                  <c:v>Fields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Structural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84</c:v>
                </c:pt>
                <c:pt idx="2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Visual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</c:v>
                </c:pt>
                <c:pt idx="1">
                  <c:v>82</c:v>
                </c:pt>
                <c:pt idx="2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solidFill>
              <a:srgbClr val="2AACB8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70</c:v>
                </c:pt>
                <c:pt idx="1">
                  <c:v>83</c:v>
                </c:pt>
                <c:pt idx="2">
                  <c:v>97</c:v>
                </c:pt>
              </c:numCache>
            </c:numRef>
          </c:val>
          <c:smooth val="0"/>
        </c:ser>
        <c:marker val="1"/>
        <c:smooth val="0"/>
        <c:axId val="2000000030"/>
        <c:axId val="2000000031"/>
      </c:lineChart>
      <c:catAx>
        <c:axId val="2000000030"/>
        <c:scaling>
          <c:orientation val="minMax"/>
        </c:scaling>
        <c:delete val="0"/>
        <c:axPos val="b"/>
        <c:majorTickMark val="out"/>
        <c:minorTickMark val="none"/>
        <c:tickLblPos val="nextTo"/>
        <c:crossAx val="2000000031"/>
        <c:crosses val="autoZero"/>
        <c:auto val="1"/>
        <c:lblAlgn val="ctr"/>
        <c:lblOffset val="100"/>
        <c:noMultiLvlLbl val="0"/>
      </c:catAx>
      <c:valAx>
        <c:axId val="2000000031"/>
        <c:scaling/>
        <c:delete val="0"/>
        <c:axPos val="l"/>
        <c:majorGridlines/>
        <c:majorTickMark val="out"/>
        <c:minorTickMark val="none"/>
        <c:tickLblPos val="nextTo"/>
        <c:crossAx val="2000000030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Gloss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73F82ED-8FD4-4FFD-A8C3-A7E638BFBCED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406" y="20551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B50ED9C-88B9-49AD-90A7-9A323E2CB762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F7AEDD1-DF97-4F6A-B26F-E138A1274A45}" type="slidenum">
              <a:rPr lang="en-US" dirty="0"/>
              <a:t>3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080000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Q1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Q2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Q3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Target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(p50)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12ms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11ms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≤10ms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(p99)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89ms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58ms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≤75ms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Throughput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1,200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1,450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1,890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≥2,000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Error Rate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0.12%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≤0.05%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99" y="22698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3725235-9B3D-408A-9CB3-5555C519E4E9}" type="slidenum">
              <a:rPr lang="en-US" dirty="0"/>
              <a:t>4</a:t>
            </a:fld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0000" y="1080000"/>
          <a:ext cx="72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820" y="243104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895E824-3A08-4C20-8EEB-E91B5E9C0490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2EC755B-364D-4565-BADA-D2ED39EDAB12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9ACCAF9-5EBB-4CDC-8418-F46C6F0D96C3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E8933E1-03A4-475D-92B2-06BF1804596B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711" y="26403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F5ED93C-F9EA-496C-B4C1-87675F8AF3D9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16582DD-AA3E-45EB-A681-2095A9374262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356" y="24547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798826D-CE67-4F4B-B7D1-CA63F7EACC87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633" y="23641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CEC4B33-0AD4-43EF-854F-2DEE288F4453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9AE72782-F11E-4AA4-9D3F-6572C0286AB7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Gloss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F158920-D25A-41D2-8E09-38D26AB36138}" type="slidenum">
              <a:rPr lang="en-US" dirty="0"/>
              <a:t>13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080000"/>
          <a:ext cx="3600000" cy="28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80000" y="1080000"/>
          <a:ext cx="324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1080000"/>
              </a:tblGrid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Rendering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Assets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Review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cityscape.png"/>
          <p:cNvPicPr>
            <a:picLocks noChangeAspect="1"/>
          </p:cNvPicPr>
          <p:nvPr/>
        </p:nvPicPr>
        <p:blipFill>
          <a:blip r:embed="rId3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361" y="273413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B4DAA11-EFE2-4B57-9D98-A8F4304BB749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Gloss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3432827-3C6D-4C0C-BFB2-48A83CB996FF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6417D8C-D998-4246-906B-7079279A3313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61A88B4-A8DB-4F25-BE4E-3F31A03F1AAE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1AD8037-93B6-4FE8-B8A9-6968D8875BBD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946" y="25074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316968D-B897-4763-B44D-FC538A94D5D3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Gloss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7837821-4D71-4B12-8E77-225431A09EBA}" type="slidenum">
              <a:rPr lang="en-US" dirty="0"/>
              <a:t>20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0000" y="972000"/>
          <a:ext cx="378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0" y="972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Tier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Slides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SSIM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70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L3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280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hero-abstract.png"/>
          <p:cNvPicPr>
            <a:picLocks noChangeAspect="1"/>
          </p:cNvPicPr>
          <p:nvPr/>
        </p:nvPicPr>
        <p:blipFill>
          <a:blip r:embed="rId3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11" name="TextBox 10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6B97C542-A538-4D64-ADDE-CB6B38A748E2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Native fast — run 3</dc:title>
  <dc:subject>deterministic generation-path baseline seed 3301</dc:subject>
  <dc:creator>Gloss contributors</dc:creator>
  <cp:keywords>Gloss, Gloss,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