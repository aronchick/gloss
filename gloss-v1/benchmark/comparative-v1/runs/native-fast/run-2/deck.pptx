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Annual Revenue by Region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42.3</c:v>
                </c:pt>
                <c:pt idx="1">
                  <c:v>28.7</c:v>
                </c:pt>
                <c:pt idx="2">
                  <c:v>19.4</c:v>
                </c:pt>
                <c:pt idx="3">
                  <c:v>8.1</c:v>
                </c:pt>
                <c:pt idx="4">
                  <c:v>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51.8</c:v>
                </c:pt>
                <c:pt idx="1">
                  <c:v>35.2</c:v>
                </c:pt>
                <c:pt idx="2">
                  <c:v>31.6</c:v>
                </c:pt>
                <c:pt idx="3">
                  <c:v>12.4</c:v>
                </c:pt>
                <c:pt idx="4">
                  <c:v>7.2</c:v>
                </c:pt>
              </c:numCache>
            </c:numRef>
          </c:val>
        </c:ser>
        <c:axId val="2000000010"/>
        <c:axId val="2000000011"/>
      </c:barChart>
      <c:catAx>
        <c:axId val="2000000010"/>
        <c:scaling>
          <c:orientation val="minMax"/>
        </c:scaling>
        <c:delete val="0"/>
        <c:axPos val="l"/>
        <c:majorTickMark val="out"/>
        <c:minorTickMark val="none"/>
        <c:tickLblPos val="nextTo"/>
        <c:crossAx val="2000000011"/>
        <c:crosses val="autoZero"/>
        <c:auto val="1"/>
        <c:lblAlgn val="ctr"/>
        <c:lblOffset val="100"/>
        <c:noMultiLvlLbl val="0"/>
      </c:catAx>
      <c:valAx>
        <c:axId val="2000000011"/>
        <c:scaling/>
        <c:delete val="0"/>
        <c:axPos val="b"/>
        <c:majorGridlines/>
        <c:majorTickMark val="out"/>
        <c:minorTickMark val="none"/>
        <c:tickLblPos val="nextTo"/>
        <c:crossAx val="200000001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Checks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Structure</c:v>
                </c:pt>
                <c:pt idx="1">
                  <c:v>Text</c:v>
                </c:pt>
                <c:pt idx="2">
                  <c:v>Visual</c:v>
                </c:pt>
                <c:pt idx="3">
                  <c:v>Assets</c:v>
                </c:pt>
                <c:pt idx="4">
                  <c:v>Fields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Structural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84</c:v>
                </c:pt>
                <c:pt idx="2">
                  <c:v>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Visual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</c:v>
                </c:pt>
                <c:pt idx="1">
                  <c:v>82</c:v>
                </c:pt>
                <c:pt idx="2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</c:v>
                </c:pt>
              </c:strCache>
            </c:strRef>
          </c:tx>
          <c:spPr>
            <a:solidFill>
              <a:srgbClr val="2AACB8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70</c:v>
                </c:pt>
                <c:pt idx="1">
                  <c:v>83</c:v>
                </c:pt>
                <c:pt idx="2">
                  <c:v>97</c:v>
                </c:pt>
              </c:numCache>
            </c:numRef>
          </c:val>
          <c:smooth val="0"/>
        </c:ser>
        <c:marker val="1"/>
        <c:smooth val="0"/>
        <c:axId val="2000000030"/>
        <c:axId val="2000000031"/>
      </c:lineChart>
      <c:catAx>
        <c:axId val="2000000030"/>
        <c:scaling>
          <c:orientation val="minMax"/>
        </c:scaling>
        <c:delete val="0"/>
        <c:axPos val="b"/>
        <c:majorTickMark val="out"/>
        <c:minorTickMark val="none"/>
        <c:tickLblPos val="nextTo"/>
        <c:crossAx val="2000000031"/>
        <c:crosses val="autoZero"/>
        <c:auto val="1"/>
        <c:lblAlgn val="ctr"/>
        <c:lblOffset val="100"/>
        <c:noMultiLvlLbl val="0"/>
      </c:catAx>
      <c:valAx>
        <c:axId val="2000000031"/>
        <c:scaling/>
        <c:delete val="0"/>
        <c:axPos val="l"/>
        <c:majorGridlines/>
        <c:majorTickMark val="out"/>
        <c:minorTickMark val="none"/>
        <c:tickLblPos val="nextTo"/>
        <c:crossAx val="2000000030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Gloss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8E7C05B-CE45-4BD7-91F3-45989BFD6E3D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514" y="27633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049F9A9-1C30-4A14-9C14-7A2DDB68BBCB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44D7B1D-BBF5-43AF-B7D7-D2DC72AEA92C}" type="slidenum">
              <a:rPr lang="en-US" dirty="0"/>
              <a:t>3</a:t>
            </a:fld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080000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Q1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Q2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Q3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Target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(p50)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12ms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11ms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≤10ms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(p99)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89ms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72ms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58ms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≤75ms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Throughput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1,200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1,450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1,890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≥2,000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864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Error Rate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0.12%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0.08%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0.04%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≤0.05%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9026" y="237573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D875AF7-D4CC-41C6-9F88-A52E69301C4B}" type="slidenum">
              <a:rPr lang="en-US" dirty="0"/>
              <a:t>4</a:t>
            </a:fld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0000" y="1080000"/>
          <a:ext cx="72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277" y="19023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B2ED585-2D65-42EC-9B1A-8B5B0663602F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D25EA1B-6F3C-4DD5-817C-3EB55E909CB0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AE33999-17BE-480E-BB5C-43304A676591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C4701B5-49D7-4F79-BA0C-5F4086A17BA3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132" y="25461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BCFBD6A-7615-495D-ADEB-02AB497AC838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EFDB0BA-E8FC-460A-A491-EE9312166104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192" y="254862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C1D7BD4-ABEF-4A41-B424-8973782AF916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912" y="255408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4C259CD-E646-4C8D-998F-A3BADDC39B73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20F53F17-36E3-436A-B49F-14327C495008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Gloss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0AEFBF26-A6DF-4E1F-BACD-747316607FC1}" type="slidenum">
              <a:rPr lang="en-US" dirty="0"/>
              <a:t>13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080000"/>
          <a:ext cx="3600000" cy="288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80000" y="1080000"/>
          <a:ext cx="324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080000"/>
                <a:gridCol w="1080000"/>
              </a:tblGrid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3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Rendering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Assets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Review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cityscape.png"/>
          <p:cNvPicPr>
            <a:picLocks noChangeAspect="1"/>
          </p:cNvPicPr>
          <p:nvPr/>
        </p:nvPicPr>
        <p:blipFill>
          <a:blip r:embed="rId3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492" y="241332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28AEE28F-021E-4FA2-B750-A70A6C96BF89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Gloss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B175D18-5079-441C-84FC-44A1B06FFE1D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E05077BD-AC1C-492C-BB83-AB0109850762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8981CD8-7FB2-4E0B-A132-37EB089DF54A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7C4AC6E1-CD06-46AB-8899-74E8450A8A6A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540" y="24295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09993BF-B193-41C7-B395-C5D46D7F492E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Gloss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GLOSS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C5087DD-588E-4A5D-8160-3823EB2F2AE2}" type="slidenum">
              <a:rPr lang="en-US" dirty="0"/>
              <a:t>20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0000" y="972000"/>
          <a:ext cx="378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0" y="972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Tier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Slides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SSIM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70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L3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280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hero-abstract.png"/>
          <p:cNvPicPr>
            <a:picLocks noChangeAspect="1"/>
          </p:cNvPicPr>
          <p:nvPr/>
        </p:nvPicPr>
        <p:blipFill>
          <a:blip r:embed="rId3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11" name="TextBox 10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3DC04939-91AC-4C3A-8F51-9DC369BC95C2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Native fast — run 2</dc:title>
  <dc:subject>deterministic generation-path baseline seed 2207</dc:subject>
  <dc:creator>Gloss contributors</dc:creator>
  <cp:keywords>Gloss, Gloss,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