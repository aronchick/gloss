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Revenue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42.3</c:v>
                </c:pt>
                <c:pt idx="1">
                  <c:v>28.7</c:v>
                </c:pt>
                <c:pt idx="2">
                  <c:v>19.4</c:v>
                </c:pt>
                <c:pt idx="3">
                  <c:v>8.1</c:v>
                </c:pt>
                <c:pt idx="4">
                  <c:v>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51.8</c:v>
                </c:pt>
                <c:pt idx="1">
                  <c:v>35.2</c:v>
                </c:pt>
                <c:pt idx="2">
                  <c:v>31.6</c:v>
                </c:pt>
                <c:pt idx="3">
                  <c:v>12.4</c:v>
                </c:pt>
                <c:pt idx="4">
                  <c:v>7.2</c:v>
                </c:pt>
              </c:numCache>
            </c:numRef>
          </c:val>
        </c:ser>
        <c:axId val="2000000010"/>
        <c:axId val="2000000011"/>
      </c:barChart>
      <c:catAx>
        <c:axId val="2000000010"/>
        <c:scaling>
          <c:orientation val="minMax"/>
        </c:scaling>
        <c:delete val="0"/>
        <c:axPos val="l"/>
        <c:majorTickMark val="out"/>
        <c:minorTickMark val="none"/>
        <c:tickLblPos val="nextTo"/>
        <c:crossAx val="2000000011"/>
        <c:crosses val="autoZero"/>
        <c:auto val="1"/>
        <c:lblAlgn val="ctr"/>
        <c:lblOffset val="100"/>
        <c:noMultiLvlLbl val="0"/>
      </c:catAx>
      <c:valAx>
        <c:axId val="2000000011"/>
        <c:scaling/>
        <c:delete val="0"/>
        <c:axPos val="b"/>
        <c:majorGridlines/>
        <c:majorTickMark val="out"/>
        <c:minorTickMark val="none"/>
        <c:tickLblPos val="nextTo"/>
        <c:crossAx val="200000001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Structure</c:v>
                </c:pt>
                <c:pt idx="1">
                  <c:v>Text</c:v>
                </c:pt>
                <c:pt idx="2">
                  <c:v>Visual</c:v>
                </c:pt>
                <c:pt idx="3">
                  <c:v>Assets</c:v>
                </c:pt>
                <c:pt idx="4">
                  <c:v>Fields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Structural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84</c:v>
                </c:pt>
                <c:pt idx="2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Visual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solidFill>
              <a:srgbClr val="2AACB8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</c:v>
                </c:pt>
                <c:pt idx="1">
                  <c:v>83</c:v>
                </c:pt>
                <c:pt idx="2">
                  <c:v>97</c:v>
                </c:pt>
              </c:numCache>
            </c:numRef>
          </c:val>
          <c:smooth val="0"/>
        </c:ser>
        <c:marker val="1"/>
        <c:smooth val="0"/>
        <c:axId val="2000000030"/>
        <c:axId val="2000000031"/>
      </c:lineChart>
      <c:catAx>
        <c:axId val="2000000030"/>
        <c:scaling>
          <c:orientation val="minMax"/>
        </c:scaling>
        <c:delete val="0"/>
        <c:axPos val="b"/>
        <c:majorTickMark val="out"/>
        <c:minorTickMark val="none"/>
        <c:tickLblPos val="nextTo"/>
        <c:crossAx val="2000000031"/>
        <c:crosses val="autoZero"/>
        <c:auto val="1"/>
        <c:lblAlgn val="ctr"/>
        <c:lblOffset val="100"/>
        <c:noMultiLvlLbl val="0"/>
      </c:catAx>
      <c:valAx>
        <c:axId val="2000000031"/>
        <c:scaling/>
        <c:delete val="0"/>
        <c:axPos val="l"/>
        <c:majorGridlines/>
        <c:majorTickMark val="out"/>
        <c:minorTickMark val="none"/>
        <c:tickLblPos val="nextTo"/>
        <c:crossAx val="2000000030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AcidSlide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99536EB-D264-4C85-8B18-DA88D5E0EBF3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30" y="20404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F262DB1-A19D-4C22-B901-66CA87C5E7BF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08BCC1C-A2DA-46FA-AA1C-6C0E66FC308B}" type="slidenum">
              <a:rPr lang="en-US" dirty="0"/>
              <a:t>3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080000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Q1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Q2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Q3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Target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(p50)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12ms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11ms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≤10ms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(p99)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89ms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58ms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≤75ms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Throughput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1,200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1,450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1,890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≥2,000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Error Rate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0.12%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≤0.05%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Uptime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99.91%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99.95%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99.98%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≥99.95%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8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Cache Hit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≥80%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432" y="19851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FC83B9C-D13A-491F-9406-AD59EE776406}" type="slidenum">
              <a:rPr lang="en-US" dirty="0"/>
              <a:t>4</a:t>
            </a:fld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0000" y="1080000"/>
          <a:ext cx="72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896" y="19174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BFEF5E8-A59D-4778-8A4A-F4BE3D429C7B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A228D1F-1964-4C05-98AC-1279F74B2FDD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FD8CCA2-AC02-4571-8931-0D952C5A6276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7078958-3D08-4750-BD71-65F9E23E273E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876" y="20094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D185247-8DB0-4C55-891E-77F6AE79D028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9820846-4342-4CED-8C35-CDCCA732D68E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170" y="20098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99A913A-8605-49CD-A864-5C2943CFAD46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701" y="20105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7C6F508-BB38-40E5-B09C-0943B801860C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3305E988-D64F-4505-8FCC-161D5A1218A7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AcidSlide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BE85CF7-063B-45FF-9B85-AF913FD6290E}" type="slidenum">
              <a:rPr lang="en-US" dirty="0"/>
              <a:t>13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080000"/>
          <a:ext cx="3600000" cy="28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80000" y="1080000"/>
          <a:ext cx="324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1080000"/>
              </a:tblGrid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Rendering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Assets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Review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cityscape.png"/>
          <p:cNvPicPr>
            <a:picLocks noChangeAspect="1"/>
          </p:cNvPicPr>
          <p:nvPr/>
        </p:nvPicPr>
        <p:blipFill>
          <a:blip r:embed="rId3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070" y="19904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C9532C3-EDB2-4B7F-B783-CBA33A906300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AcidSlide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6CEA7EB-200B-49A7-A548-257F0C8991C3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F2C9CF4-E6DB-4B3E-ADED-7F9020E76629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CBC03D0-EE4A-4B2E-B19D-7E163E32DEA0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BDDAFA1-2DC6-4FF2-BEEC-B5FC5643C66D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648" y="19927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07B8B08-07CE-4323-B588-8EAB7DD88B8E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AcidSlide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EC109D8-2099-4E62-8CA9-B9D39F01C3BD}" type="slidenum">
              <a:rPr lang="en-US" dirty="0"/>
              <a:t>20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0000" y="972000"/>
          <a:ext cx="378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0" y="972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Tier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Slides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SSIM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70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L3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280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hero-abstract.png"/>
          <p:cNvPicPr>
            <a:picLocks noChangeAspect="1"/>
          </p:cNvPicPr>
          <p:nvPr/>
        </p:nvPicPr>
        <p:blipFill>
          <a:blip r:embed="rId3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11" name="TextBox 10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C3D64C09-8CDD-4A23-9F51-6C1ED97E8F90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Native precise — run 2</dc:title>
  <dc:subject>deterministic generation-path baseline seed 2207</dc:subject>
  <dc:creator>Gloss contributors</dc:creator>
  <cp:keywords>Gloss, AcidSlide,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