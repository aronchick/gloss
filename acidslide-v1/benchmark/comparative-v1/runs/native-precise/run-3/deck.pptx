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Annual Revenue by Region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2023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42.3</c:v>
                </c:pt>
                <c:pt idx="1">
                  <c:v>28.7</c:v>
                </c:pt>
                <c:pt idx="2">
                  <c:v>19.4</c:v>
                </c:pt>
                <c:pt idx="3">
                  <c:v>8.1</c:v>
                </c:pt>
                <c:pt idx="4">
                  <c:v>3.9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2024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Sheet1!$A$2:$A$6</c:f>
              <c:strCache>
                <c:ptCount val="5"/>
                <c:pt idx="0">
                  <c:v>North America</c:v>
                </c:pt>
                <c:pt idx="1">
                  <c:v>Europe</c:v>
                </c:pt>
                <c:pt idx="2">
                  <c:v>Asia Pacific</c:v>
                </c:pt>
                <c:pt idx="3">
                  <c:v>Latin America</c:v>
                </c:pt>
                <c:pt idx="4">
                  <c:v>Middle East &amp; Africa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51.8</c:v>
                </c:pt>
                <c:pt idx="1">
                  <c:v>35.2</c:v>
                </c:pt>
                <c:pt idx="2">
                  <c:v>31.6</c:v>
                </c:pt>
                <c:pt idx="3">
                  <c:v>12.4</c:v>
                </c:pt>
                <c:pt idx="4">
                  <c:v>7.2</c:v>
                </c:pt>
              </c:numCache>
            </c:numRef>
          </c:val>
        </c:ser>
        <c:axId val="2000000010"/>
        <c:axId val="2000000011"/>
      </c:barChart>
      <c:catAx>
        <c:axId val="2000000010"/>
        <c:scaling>
          <c:orientation val="minMax"/>
        </c:scaling>
        <c:delete val="0"/>
        <c:axPos val="l"/>
        <c:majorTickMark val="out"/>
        <c:minorTickMark val="none"/>
        <c:tickLblPos val="nextTo"/>
        <c:crossAx val="2000000011"/>
        <c:crosses val="autoZero"/>
        <c:auto val="1"/>
        <c:lblAlgn val="ctr"/>
        <c:lblOffset val="100"/>
        <c:noMultiLvlLbl val="0"/>
      </c:catAx>
      <c:valAx>
        <c:axId val="2000000011"/>
        <c:scaling/>
        <c:delete val="0"/>
        <c:axPos val="b"/>
        <c:majorGridlines/>
        <c:majorTickMark val="out"/>
        <c:minorTickMark val="none"/>
        <c:tickLblPos val="nextTo"/>
        <c:crossAx val="2000000010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Structure</c:v>
                </c:pt>
                <c:pt idx="1">
                  <c:v>Text</c:v>
                </c:pt>
                <c:pt idx="2">
                  <c:v>Visual</c:v>
                </c:pt>
                <c:pt idx="3">
                  <c:v>Assets</c:v>
                </c:pt>
                <c:pt idx="4">
                  <c:v>Fields</c:v>
                </c:pt>
                <c:pt idx="5">
                  <c:v>Other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22</c:v>
                </c:pt>
                <c:pt idx="2">
                  <c:v>18</c:v>
                </c:pt>
                <c:pt idx="3">
                  <c:v>14</c:v>
                </c:pt>
                <c:pt idx="4">
                  <c:v>10</c:v>
                </c:pt>
                <c:pt idx="5">
                  <c:v>8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Structural</c:v>
                </c:pt>
              </c:strCache>
            </c:strRef>
          </c:tx>
          <c:spPr>
            <a:solidFill>
              <a:srgbClr val="1B2A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72</c:v>
                </c:pt>
                <c:pt idx="1">
                  <c:v>84</c:v>
                </c:pt>
                <c:pt idx="2">
                  <c:v>96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Visual</c:v>
                </c:pt>
              </c:strCache>
            </c:strRef>
          </c:tx>
          <c:spPr>
            <a:solidFill>
              <a:srgbClr val="E8634A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68</c:v>
                </c:pt>
                <c:pt idx="1">
                  <c:v>82</c:v>
                </c:pt>
                <c:pt idx="2">
                  <c:v>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Combined</c:v>
                </c:pt>
              </c:strCache>
            </c:strRef>
          </c:tx>
          <c:spPr>
            <a:solidFill>
              <a:srgbClr val="2AACB8"/>
            </a:solidFill>
          </c:spPr>
          <c:cat>
            <c:strRef>
              <c:f>Sheet1!$A$2:$A$4</c:f>
              <c:strCache>
                <c:ptCount val="3"/>
                <c:pt idx="0">
                  <c:v>L1</c:v>
                </c:pt>
                <c:pt idx="1">
                  <c:v>L2</c:v>
                </c:pt>
                <c:pt idx="2">
                  <c:v>L3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70</c:v>
                </c:pt>
                <c:pt idx="1">
                  <c:v>83</c:v>
                </c:pt>
                <c:pt idx="2">
                  <c:v>97</c:v>
                </c:pt>
              </c:numCache>
            </c:numRef>
          </c:val>
          <c:smooth val="0"/>
        </c:ser>
        <c:marker val="1"/>
        <c:smooth val="0"/>
        <c:axId val="2000000030"/>
        <c:axId val="2000000031"/>
      </c:lineChart>
      <c:catAx>
        <c:axId val="2000000030"/>
        <c:scaling>
          <c:orientation val="minMax"/>
        </c:scaling>
        <c:delete val="0"/>
        <c:axPos val="b"/>
        <c:majorTickMark val="out"/>
        <c:minorTickMark val="none"/>
        <c:tickLblPos val="nextTo"/>
        <c:crossAx val="2000000031"/>
        <c:crosses val="autoZero"/>
        <c:auto val="1"/>
        <c:lblAlgn val="ctr"/>
        <c:lblOffset val="100"/>
        <c:noMultiLvlLbl val="0"/>
      </c:catAx>
      <c:valAx>
        <c:axId val="2000000031"/>
        <c:scaling/>
        <c:delete val="0"/>
        <c:axPos val="l"/>
        <c:majorGridlines/>
        <c:majorTickMark val="out"/>
        <c:minorTickMark val="none"/>
        <c:tickLblPos val="nextTo"/>
        <c:crossAx val="2000000030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4400" b="1" i="0">
                <a:solidFill>
                  <a:srgbClr val="FFFFFF"/>
                </a:solidFill>
                <a:latin typeface="Carlito"/>
              </a:rPr>
              <a:t>AcidSlide v1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 lIns="43200" rIns="43200" tIns="21600" bIns="21600"/>
          <a:lstStyle/>
          <a:p>
            <a:pPr algn="ctr"/>
            <a:r>
              <a:rPr sz="2400" b="0" i="0">
                <a:solidFill>
                  <a:srgbClr val="E8634A"/>
                </a:solidFill>
                <a:latin typeface="Carlito"/>
              </a:rPr>
              <a:t>Benchmark for Slide Generation Fidelity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0A267245-282A-46C7-86E7-E34E715AC343}" type="slidenum">
              <a:rPr lang="en-US" dirty="0"/>
              <a:t>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760000" y="2880000"/>
            <a:ext cx="3600000" cy="2160000"/>
          </a:xfrm>
          <a:prstGeom prst="roundRect">
            <a:avLst/>
          </a:prstGeom>
          <a:solidFill>
            <a:srgbClr val="D4A843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040000" y="1440000"/>
            <a:ext cx="2880000" cy="2880000"/>
          </a:xfrm>
          <a:prstGeom prst="roundRect">
            <a:avLst/>
          </a:prstGeom>
          <a:solidFill>
            <a:srgbClr val="2AACB8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hero-abstract.png"/>
          <p:cNvPicPr>
            <a:picLocks noChangeAspect="1"/>
          </p:cNvPicPr>
          <p:nvPr/>
        </p:nvPicPr>
        <p:blipFill>
          <a:blip r:embed="rId2"/>
          <a:srcRect l="20000"/>
          <a:stretch>
            <a:fillRect/>
          </a:stretch>
        </p:blipFill>
        <p:spPr>
          <a:xfrm>
            <a:off x="6792120" y="720000"/>
            <a:ext cx="5400000" cy="3671999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480000" y="360000"/>
            <a:ext cx="2160000" cy="3600000"/>
          </a:xfrm>
          <a:prstGeom prst="roundRect">
            <a:avLst/>
          </a:prstGeom>
          <a:solidFill>
            <a:srgbClr val="E8634A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915" y="19393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0000" y="1080000"/>
            <a:ext cx="7200000" cy="4860000"/>
          </a:xfrm>
        </p:spPr>
        <p:txBody>
          <a:bodyPr/>
          <a:lstStyle/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Opening Remarks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Welcome and introductions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Safety briefing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Technical Deep Dive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Architecture overview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Performance benchmarks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Security audit results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Breakout Sessions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A: Infrastructure</a:t>
            </a:r>
          </a:p>
          <a:p>
            <a:pPr lvl="1"/>
            <a:r>
              <a:rPr sz="1400" b="0">
                <a:solidFill>
                  <a:srgbClr val="F5F3EE"/>
                </a:solidFill>
                <a:latin typeface="Liberation Sans"/>
              </a:rPr>
              <a:t>Track B: Applications</a:t>
            </a:r>
          </a:p>
          <a:p>
            <a:pPr/>
            <a:r>
              <a:rPr sz="1800" b="1">
                <a:solidFill>
                  <a:srgbClr val="E8634A"/>
                </a:solidFill>
                <a:latin typeface="Liberation Sans"/>
              </a:rPr>
              <a:t>Closing &amp; Next Steps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1307CC6-BCEE-402C-BB2F-F7692011DEC6}" type="slidenum">
              <a:rPr lang="en-US" dirty="0"/>
              <a:t>2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8640000" y="1512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0" y="1476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09:00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0" y="2988000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0" y="2952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11:30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40000" y="4463999"/>
            <a:ext cx="360000" cy="36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4428000"/>
            <a:ext cx="10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Liberation Sans"/>
              </a:rPr>
              <a:t>14:00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Performance Metrics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237656E-091A-4F93-AAFB-7B0AF2B15935}" type="slidenum">
              <a:rPr lang="en-US" dirty="0"/>
              <a:t>3</a:t>
            </a:fld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080000"/>
          <a:ext cx="1080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2160000"/>
                <a:gridCol w="2160000"/>
                <a:gridCol w="2160000"/>
                <a:gridCol w="2160000"/>
              </a:tblGrid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Metric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Q1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Q2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Q3 2024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Target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(p50)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12ms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11ms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≤10ms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Latency (p99)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89ms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72ms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58ms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≤75ms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Throughput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1,200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1,450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1,890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≥2,000 rps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Error Rate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0.12%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0.08%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0.04%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≤0.05%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17142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Uptime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99.91%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99.95%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99.98%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≥99.95%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17148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Cache Hit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72%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78%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84%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≥80%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640000" y="5472000"/>
            <a:ext cx="2880000" cy="792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Throughput target</a:t>
            </a:r>
          </a:p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missed by 5.5%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357" y="196997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Revenue Growth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180F36A8-ACE6-41B7-BDE7-A53F53C8F1B4}" type="slidenum">
              <a:rPr lang="en-US" dirty="0"/>
              <a:t>4</a:t>
            </a:fld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0000" y="1080000"/>
          <a:ext cx="7200000" cy="486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80000" y="1440000"/>
            <a:ext cx="3240000" cy="25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Key Takeaways: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Total revenue up 38.2% YoY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APAC fastest-growing region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▸ All regions exceeded targets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60000" y="2951999"/>
            <a:ext cx="1800000" cy="72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+62.9% YoY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4536000"/>
            <a:ext cx="1800000" cy="720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+84.6% YoY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688" y="19930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Our Team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3A291CB5-2EA7-41F2-AE01-CF30FC06588F}" type="slidenum">
              <a:rPr lang="en-US" dirty="0"/>
              <a:t>5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54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44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Sarah Chen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Chief Architect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15 years building distributed systems at scale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2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Marcus Rivera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Head of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Formerly at Apple, obsessed with pixel-perfect interfaces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00000" y="1116000"/>
            <a:ext cx="3240000" cy="4608000"/>
          </a:xfrm>
          <a:prstGeom prst="roundRect">
            <a:avLst/>
          </a:prstGeom>
          <a:solidFill>
            <a:srgbClr val="161F2E"/>
          </a:solidFill>
          <a:ln w="12700">
            <a:solidFill>
              <a:srgbClr val="2AAC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00000" y="1440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Photo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16000" y="3060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rlito"/>
              </a:rPr>
              <a:t>Yuki Tanaka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6000" y="3456000"/>
            <a:ext cx="2808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0">
                <a:solidFill>
                  <a:srgbClr val="E8634A"/>
                </a:solidFill>
                <a:latin typeface="Liberation Sans"/>
              </a:rPr>
              <a:t>ML Engineering Lead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2000" y="3960000"/>
            <a:ext cx="2736000" cy="1007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Liberation Sans"/>
              </a:rPr>
              <a:t>PhD in NLP, built the model serving infrastructure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F9DAD21-078F-4950-A0ED-027B542072CD}" type="slidenum">
              <a:rPr lang="en-US" dirty="0"/>
              <a:t>6</a:t>
            </a:fld>
          </a:p>
        </p:txBody>
      </p:sp>
      <p:sp>
        <p:nvSpPr>
          <p:cNvPr id="5" name="TextBox 4"/>
          <p:cNvSpPr txBox="1"/>
          <p:nvPr/>
        </p:nvSpPr>
        <p:spPr>
          <a:xfrm>
            <a:off x="36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Liberation Sans"/>
              </a:rPr>
              <a:t>Global Perspectives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The rapid advancement of language models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has transformed how organizations approach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document generation.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2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r>
              <a:rPr sz="2400" b="1" i="0">
                <a:solidFill>
                  <a:srgbClr val="FFFFFF"/>
                </a:solidFill>
                <a:latin typeface="Noto Sans Arabic"/>
              </a:rPr>
              <a:t>وجهات نظر عالمية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2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لقد أدى التقدم السريع في نماذج اللغة إلى تحويل</a:t>
            </a:r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كيفية تعامل المؤسسات مع إنشاء المستندات.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0000" y="720000"/>
            <a:ext cx="36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Noto Sans CJK JP"/>
              </a:rPr>
              <a:t>グローバルな視点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0000" y="1260000"/>
            <a:ext cx="3600000" cy="324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言語モデルの急速な進歩により、組織がドキュメント生成に</a:t>
            </a:r>
          </a:p>
          <a:p>
            <a:pPr algn="l"/>
            <a:r>
              <a:rPr sz="1400" b="0" i="0">
                <a:solidFill>
                  <a:srgbClr val="FFFFFF"/>
                </a:solidFill>
                <a:latin typeface="Noto Sans CJK JP"/>
              </a:rPr>
              <a:t>取り組む方法が変革されました。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31999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1000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400000" y="4680000"/>
            <a:ext cx="4320000" cy="1440000"/>
          </a:xfrm>
          <a:prstGeom prst="roundRect">
            <a:avLst/>
          </a:prstGeom>
          <a:solidFill>
            <a:srgbClr val="E8634A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AI-generated slides must handle RTL text,</a:t>
            </a:r>
          </a:p>
          <a:p>
            <a:pPr algn="ctr"/>
            <a:r>
              <a:rPr sz="1300" b="1" i="0">
                <a:solidFill>
                  <a:srgbClr val="FFFFFF"/>
                </a:solidFill>
                <a:latin typeface="Liberation Sans"/>
              </a:rPr>
              <a:t>CJK line breaking, and mixed scripts correctly.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Image Handling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0D093402-8621-4365-A908-EEE93908D45B}" type="slidenum">
              <a:rPr lang="en-US" dirty="0"/>
              <a:t>7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 t="15000" b="10000"/>
          <a:stretch>
            <a:fillRect/>
          </a:stretch>
        </p:blipFill>
        <p:spPr>
          <a:xfrm>
            <a:off x="540000" y="900000"/>
            <a:ext cx="3600000" cy="2880000"/>
          </a:xfrm>
          <a:prstGeom prst="rect">
            <a:avLst/>
          </a:prstGeom>
        </p:spPr>
      </p:pic>
      <p:pic>
        <p:nvPicPr>
          <p:cNvPr id="7" name="Picture 6" descr="cityscape.png"/>
          <p:cNvPicPr>
            <a:picLocks noChangeAspect="1"/>
          </p:cNvPicPr>
          <p:nvPr/>
        </p:nvPicPr>
        <p:blipFill>
          <a:blip r:embed="rId2"/>
          <a:srcRect l="30000"/>
          <a:stretch>
            <a:fillRect/>
          </a:stretch>
        </p:blipFill>
        <p:spPr>
          <a:xfrm>
            <a:off x="4680000" y="900000"/>
            <a:ext cx="2880000" cy="2880000"/>
          </a:xfrm>
          <a:prstGeom prst="rect">
            <a:avLst/>
          </a:prstGeom>
        </p:spPr>
      </p:pic>
      <p:pic>
        <p:nvPicPr>
          <p:cNvPr id="8" name="Picture 7" descr="texture-pattern.png"/>
          <p:cNvPicPr>
            <a:picLocks noChangeAspect="1"/>
          </p:cNvPicPr>
          <p:nvPr/>
        </p:nvPicPr>
        <p:blipFill>
          <a:blip r:embed="rId3"/>
          <a:srcRect r="25000"/>
          <a:stretch>
            <a:fillRect/>
          </a:stretch>
        </p:blipFill>
        <p:spPr>
          <a:xfrm>
            <a:off x="8100000" y="900000"/>
            <a:ext cx="3600000" cy="288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Full panorama crop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Circle-masked detail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0000" y="3888000"/>
            <a:ext cx="3600000" cy="28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1">
                <a:solidFill>
                  <a:srgbClr val="FFFFFF"/>
                </a:solidFill>
                <a:latin typeface="Liberation Sans"/>
              </a:rPr>
              <a:t>Rounded corner crop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1260000"/>
            <a:ext cx="2160000" cy="2160000"/>
          </a:xfrm>
          <a:prstGeom prst="roundRect">
            <a:avLst/>
          </a:prstGeom>
          <a:solidFill>
            <a:srgbClr val="1B2A4A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400" b="1" i="0">
                <a:solidFill>
                  <a:srgbClr val="FFFFFF"/>
                </a:solidFill>
                <a:latin typeface="Liberation Sans"/>
              </a:rPr>
              <a:t>PREVIEW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Depth &amp; Layering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401870AF-01FD-4B6D-AFB9-E988C729B73D}" type="slidenum">
              <a:rPr lang="en-US" dirty="0"/>
              <a:t>8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440000" y="2160000"/>
            <a:ext cx="4320000" cy="288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520000" y="1800000"/>
            <a:ext cx="4320000" cy="2880000"/>
          </a:xfrm>
          <a:prstGeom prst="roundRect">
            <a:avLst/>
          </a:prstGeom>
          <a:solidFill>
            <a:srgbClr val="2AACB8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00000" y="1440000"/>
            <a:ext cx="4320000" cy="2880000"/>
          </a:xfrm>
          <a:prstGeom prst="roundRect">
            <a:avLst/>
          </a:prstGeom>
          <a:solidFill>
            <a:srgbClr val="E863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FFFFFF"/>
                </a:solidFill>
                <a:latin typeface="Liberation Sans"/>
              </a:rPr>
              <a:t>Layer 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680000" y="1080000"/>
            <a:ext cx="4320000" cy="2880000"/>
          </a:xfrm>
          <a:prstGeom prst="roundRect">
            <a:avLst/>
          </a:prstGeom>
          <a:solidFill>
            <a:srgbClr val="D4A843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000" y="720000"/>
            <a:ext cx="4320000" cy="2880000"/>
          </a:xfrm>
          <a:prstGeom prst="roundRect">
            <a:avLst/>
          </a:prstGeom>
          <a:solidFill>
            <a:srgbClr val="FFFFFF">
              <a:alpha val="9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2000" b="1" i="0">
                <a:solidFill>
                  <a:srgbClr val="1B2A4A"/>
                </a:solidFill>
                <a:latin typeface="Liberation Sans"/>
              </a:rPr>
              <a:t>Layer 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400000"/>
            <a:ext cx="12192000" cy="900000"/>
          </a:xfrm>
          <a:prstGeom prst="rect">
            <a:avLst/>
          </a:prstGeom>
          <a:gradFill rotWithShape="1">
            <a:gsLst>
              <a:gs pos="0">
                <a:srgbClr val="0F1923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387" y="20229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API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04AE8D67-5184-4C06-B692-AA2DF43EEB85}" type="slidenum">
              <a:rPr lang="en-US" dirty="0"/>
              <a:t>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540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E8634A"/>
                </a:solidFill>
                <a:latin typeface="Liberation Sans"/>
              </a:rPr>
              <a:t>Fixed Size (clips)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/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2000" y="900000"/>
            <a:ext cx="504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100" b="1" i="0">
                <a:solidFill>
                  <a:srgbClr val="2AACB8"/>
                </a:solidFill>
                <a:latin typeface="Liberation Sans"/>
              </a:rPr>
              <a:t>Auto-Shrink (fits)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2000" y="1152000"/>
            <a:ext cx="5040000" cy="4932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norm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GET /api/v1/submissions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Authorization: Bearer YOUR_TOKEN_HERE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Content-Type: application/json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Query Parameters: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model_id    string  required  Filter by model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tier        integer optional  1, 2, or 3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status      string  optional  queued|grading|completed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limit       integer optional  Default: 20, max: 100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Response 200: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{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"submissions": [{"id": "sub_abc123", "model_id": "gpt-4o", "tier": 3, "status": "completed", "fidelity_score": 0.847}],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"total": 142,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"has_more": true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}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Error Responses: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401 Unauthorized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403 Forbidden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404 Not Found</a:t>
            </a:r>
          </a:p>
          <a:p>
            <a:pPr algn="l"/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Rate Limits: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Free tier: 10 req/min</a:t>
            </a:r>
          </a:p>
          <a:p>
            <a:pPr algn="l"/>
            <a:r>
              <a:rPr sz="1100" b="0" i="0">
                <a:solidFill>
                  <a:srgbClr val="FFFFFF"/>
                </a:solidFill>
                <a:latin typeface="Liberation Mono"/>
              </a:rPr>
              <a:t>  Pro tier: 60 req/min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6F52BB1F-798A-412F-AA0E-5680FA099C35}" type="slidenum">
              <a:rPr lang="en-US" dirty="0"/>
              <a:t>10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720000" y="1080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Client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40000" y="1080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API Gateway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8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Auth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3240000"/>
            <a:ext cx="1800000" cy="864000"/>
          </a:xfrm>
          <a:prstGeom prst="round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Job Queue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0" y="3240000"/>
            <a:ext cx="1800000" cy="864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Grader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6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PostgreSQL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0000" y="5112000"/>
            <a:ext cx="1800000" cy="864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Object Store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0000" y="5112000"/>
            <a:ext cx="1800000" cy="864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200" b="1" i="0">
                <a:solidFill>
                  <a:srgbClr val="FFFFFF"/>
                </a:solidFill>
                <a:latin typeface="Liberation Sans"/>
              </a:rPr>
              <a:t>Leaderboard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20000" y="1512000"/>
            <a:ext cx="252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3780000" y="1944000"/>
            <a:ext cx="216000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940000" y="1944000"/>
            <a:ext cx="0" cy="1296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40000" y="3671999"/>
            <a:ext cx="36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5940000" y="4104000"/>
            <a:ext cx="2160000" cy="100800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396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40000" y="5544000"/>
            <a:ext cx="1080000" cy="0"/>
          </a:xfrm>
          <a:prstGeom prst="line">
            <a:avLst/>
          </a:prstGeom>
          <a:ln w="19050">
            <a:solidFill>
              <a:srgbClr val="F5F3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1999" y="1224000"/>
            <a:ext cx="72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HTTPS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40000" y="2340000"/>
            <a:ext cx="900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JWT verify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48000" y="2448000"/>
            <a:ext cx="792000" cy="21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  <a:latin typeface="Liberation Sans"/>
              </a:rPr>
              <a:t>Enqueue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479" y="199639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Brand Colors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6899A88-C37B-417E-95CB-14A1683FC235}" type="slidenum">
              <a:rPr lang="en-US" dirty="0"/>
              <a:t>11</a:t>
            </a:fld>
          </a:p>
        </p:txBody>
      </p:sp>
      <p:sp>
        <p:nvSpPr>
          <p:cNvPr id="7" name="Rounded Rectangle 6"/>
          <p:cNvSpPr/>
          <p:nvPr/>
        </p:nvSpPr>
        <p:spPr>
          <a:xfrm>
            <a:off x="1800000" y="1152000"/>
            <a:ext cx="1440000" cy="144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2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Primary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40000" y="1152000"/>
            <a:ext cx="1440000" cy="144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6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Secondary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80000" y="1152000"/>
            <a:ext cx="1440000" cy="1440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00000" y="262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5F3EE"/>
                </a:solidFill>
                <a:latin typeface="Liberation Sans"/>
              </a:rPr>
              <a:t>Accent 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00000" y="3311999"/>
            <a:ext cx="1440000" cy="14400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2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FF6B35"/>
                </a:solidFill>
                <a:latin typeface="Liberation Sans"/>
              </a:rPr>
              <a:t>Override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0000" y="3311999"/>
            <a:ext cx="1440000" cy="1440000"/>
          </a:xfrm>
          <a:prstGeom prst="roundRect">
            <a:avLst/>
          </a:prstGeom>
          <a:solidFill>
            <a:srgbClr val="7B2D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6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7B2D8E"/>
                </a:solidFill>
                <a:latin typeface="Liberation Sans"/>
              </a:rPr>
              <a:t>Override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80000" y="3311999"/>
            <a:ext cx="1440000" cy="1440000"/>
          </a:xfrm>
          <a:prstGeom prst="roundRect">
            <a:avLst/>
          </a:prstGeom>
          <a:solidFill>
            <a:srgbClr val="3D99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00000" y="4788000"/>
            <a:ext cx="1800000" cy="251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200" b="0" i="0">
                <a:solidFill>
                  <a:srgbClr val="3D9970"/>
                </a:solidFill>
                <a:latin typeface="Liberation Sans"/>
              </a:rPr>
              <a:t>Override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0000" y="5616000"/>
            <a:ext cx="900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Top row uses theme roles. Bottom row uses explicit RGB values.</a:t>
            </a:r>
          </a:p>
          <a:p>
            <a:pPr algn="ctr"/>
            <a:r>
              <a:rPr sz="1300" b="0" i="0">
                <a:solidFill>
                  <a:srgbClr val="FFFFFF"/>
                </a:solidFill>
                <a:latin typeface="Liberation Sans"/>
              </a:rPr>
              <a:t>Changing the theme updates the top row but not the bottom row.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3376" y="198345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Document Fields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9EF2F41A-AF65-4A1B-B225-6E4E302078A8}" type="slidenum">
              <a:rPr lang="en-US" dirty="0"/>
              <a:t>12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1080000" y="144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D8CB5240-D987-4BE0-ABB5-B6D0FC860C30}" type="slidenum">
              <a:rPr lang="en-US" dirty="0"/>
              <a:t>12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580000" y="144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Live slide number field (not static text)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252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Generated: 2025-01-15 10:30 UTC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0000" y="252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Fixed date/time field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0000" y="360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AcidSlide Benchmark v1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000" y="3600000"/>
            <a:ext cx="468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200" b="0" i="1">
                <a:solidFill>
                  <a:srgbClr val="2AACB8"/>
                </a:solidFill>
                <a:latin typeface="Liberation Sans"/>
              </a:rPr>
              <a:t>← Footer from master placeholder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0000" y="4860000"/>
            <a:ext cx="4320000" cy="503999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Slide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Composite Stress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D48767A9-1303-4582-9503-5EF73C340317}" type="slidenum">
              <a:rPr lang="en-US" dirty="0"/>
              <a:t>13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080000"/>
          <a:ext cx="3600000" cy="288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80000" y="1080000"/>
          <a:ext cx="3240000" cy="25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/>
                <a:gridCol w="1080000"/>
                <a:gridCol w="1080000"/>
              </a:tblGrid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Weight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Rendering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  <a:tr h="63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Assets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Review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cityscape.png"/>
          <p:cNvPicPr>
            <a:picLocks noChangeAspect="1"/>
          </p:cNvPicPr>
          <p:nvPr/>
        </p:nvPicPr>
        <p:blipFill>
          <a:blip r:embed="rId3"/>
          <a:srcRect l="15000"/>
          <a:stretch>
            <a:fillRect/>
          </a:stretch>
        </p:blipFill>
        <p:spPr>
          <a:xfrm>
            <a:off x="8280000" y="1080000"/>
            <a:ext cx="2880000" cy="216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20000" y="4500000"/>
            <a:ext cx="576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الهيكل والمحتوى والعرض في اختبار واحد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CHART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NATIVE TABLE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3600000"/>
            <a:ext cx="2520000" cy="503999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3200" rIns="43200" tIns="21600" bIns="21600"/>
          <a:lstStyle/>
          <a:p>
            <a:pPr algn="ctr"/>
            <a:r>
              <a:rPr sz="1100" b="1" i="0">
                <a:solidFill>
                  <a:srgbClr val="FFFFFF"/>
                </a:solidFill>
                <a:latin typeface="Liberation Sans"/>
              </a:rPr>
              <a:t>APPROVED ASSET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9908" y="203630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RTL Systems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cxnSp>
        <p:nvCxnSpPr>
          <p:cNvPr id="5" name="Connector 4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A4262A95-FDDD-4B99-B1A8-3EE0F0687918}" type="slidenum">
              <a:rPr lang="en-US" dirty="0"/>
              <a:t>14</a:t>
            </a:fld>
          </a:p>
        </p:txBody>
      </p:sp>
      <p:sp>
        <p:nvSpPr>
          <p:cNvPr id="8" name="TextBox 7"/>
          <p:cNvSpPr txBox="1"/>
          <p:nvPr/>
        </p:nvSpPr>
        <p:spPr>
          <a:xfrm>
            <a:off x="540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مراجعة الأنظمة الموزعة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دقة العرض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سلامة البنية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The الذكاء الاصطناعي revolution</a:t>
            </a:r>
          </a:p>
          <a:p>
            <a:pPr algn="r" rtl="1"/>
          </a:p>
          <a:p>
            <a:pPr algn="r" rtl="1"/>
            <a:r>
              <a:rPr sz="1400" b="0" i="0">
                <a:solidFill>
                  <a:srgbClr val="FFFFFF"/>
                </a:solidFill>
                <a:latin typeface="Noto Sans Arabic"/>
              </a:rPr>
              <a:t>الإصدار AcidSlide v1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2000" y="1080000"/>
            <a:ext cx="5256000" cy="468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A structural benchmark must preserve meaning and direction.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Rendering alone cannot establish editability.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Native objects keep content reusable.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Bidirectional text must retain Unicode order.</a:t>
            </a:r>
          </a:p>
          <a:p>
            <a:pPr algn="l"/>
          </a:p>
          <a:p>
            <a:pPr algn="l"/>
            <a:r>
              <a:rPr sz="1400" b="0" i="0">
                <a:solidFill>
                  <a:srgbClr val="FFFFFF"/>
                </a:solidFill>
                <a:latin typeface="Liberation Sans"/>
              </a:rPr>
              <a:t>Every claim needs a reproducible artifact.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94800" y="1080000"/>
            <a:ext cx="0" cy="4680000"/>
          </a:xfrm>
          <a:prstGeom prst="line">
            <a:avLst/>
          </a:prstGeom>
          <a:ln w="1270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Rotation Atlas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824A467B-8B1C-4106-9EBB-8704B91CBABE}" type="slidenum">
              <a:rPr lang="en-US" dirty="0"/>
              <a:t>15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540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0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Baseline 0°</a:t>
            </a:r>
          </a:p>
        </p:txBody>
      </p:sp>
      <p:sp>
        <p:nvSpPr>
          <p:cNvPr id="8" name="Rounded Rectangle 7"/>
          <p:cNvSpPr/>
          <p:nvPr/>
        </p:nvSpPr>
        <p:spPr>
          <a:xfrm rot="2700000">
            <a:off x="2772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 rot="2700000">
            <a:off x="2951999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Diagonal 45°</a:t>
            </a:r>
          </a:p>
        </p:txBody>
      </p:sp>
      <p:sp>
        <p:nvSpPr>
          <p:cNvPr id="10" name="Rounded Rectangle 9"/>
          <p:cNvSpPr/>
          <p:nvPr/>
        </p:nvSpPr>
        <p:spPr>
          <a:xfrm rot="5400000">
            <a:off x="5004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 rot="5400000">
            <a:off x="5184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90°</a:t>
            </a:r>
          </a:p>
        </p:txBody>
      </p:sp>
      <p:sp>
        <p:nvSpPr>
          <p:cNvPr id="12" name="Rounded Rectangle 11"/>
          <p:cNvSpPr/>
          <p:nvPr/>
        </p:nvSpPr>
        <p:spPr>
          <a:xfrm rot="8100000">
            <a:off x="7236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 rot="8100000">
            <a:off x="7416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Reverse 135°</a:t>
            </a:r>
          </a:p>
        </p:txBody>
      </p:sp>
      <p:sp>
        <p:nvSpPr>
          <p:cNvPr id="14" name="Rounded Rectangle 13"/>
          <p:cNvSpPr/>
          <p:nvPr/>
        </p:nvSpPr>
        <p:spPr>
          <a:xfrm rot="16200000">
            <a:off x="9468000" y="2700000"/>
            <a:ext cx="2160000" cy="72000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 rot="16200000">
            <a:off x="9648000" y="279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Vertical 270°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Beyond the Frame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CA5E300-2D62-4E4A-B970-167B56D58E14}" type="slidenum">
              <a:rPr lang="en-US" dirty="0"/>
              <a:t>16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-1080000" y="-720000"/>
            <a:ext cx="3600000" cy="3600000"/>
          </a:xfrm>
          <a:prstGeom prst="roundRect">
            <a:avLst/>
          </a:prstGeom>
          <a:solidFill>
            <a:srgbClr val="E86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392120" y="2160000"/>
            <a:ext cx="4320000" cy="2160000"/>
          </a:xfrm>
          <a:prstGeom prst="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880000" y="-360000"/>
            <a:ext cx="5760000" cy="1080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80000" y="2520000"/>
            <a:ext cx="6480000" cy="72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rlito"/>
              </a:rPr>
              <a:t>INTENTIONAL BLEED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0000" y="3600000"/>
            <a:ext cx="72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800" b="0" i="0">
                <a:solidFill>
                  <a:srgbClr val="FFFFFF"/>
                </a:solidFill>
                <a:latin typeface="Liberation Sans"/>
              </a:rPr>
              <a:t>Negative coordinates are part of the composition.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Nested Systems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B4428675-883A-43CE-9DDC-3DD0E413A415}" type="slidenum">
              <a:rPr lang="en-US" dirty="0"/>
              <a:t>17</a:t>
            </a:fld>
          </a:p>
        </p:txBody>
      </p:sp>
      <p:sp>
        <p:nvSpPr>
          <p:cNvPr id="6" name="Rounded Rectangle 5"/>
          <p:cNvSpPr/>
          <p:nvPr/>
        </p:nvSpPr>
        <p:spPr>
          <a:xfrm>
            <a:off x="136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6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08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6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76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8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A2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0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00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2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0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0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B2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48000" y="1512000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44000" y="180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68000" y="2015999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848000" y="3671999"/>
            <a:ext cx="792000" cy="792000"/>
          </a:xfrm>
          <a:prstGeom prst="roundRect">
            <a:avLst/>
          </a:prstGeom>
          <a:solidFill>
            <a:srgbClr val="2AAC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44000" y="3960000"/>
            <a:ext cx="1908000" cy="936000"/>
          </a:xfrm>
          <a:prstGeom prst="roundRect">
            <a:avLst/>
          </a:prstGeom>
          <a:solidFill>
            <a:srgbClr val="1B2A4A"/>
          </a:solidFill>
          <a:ln w="12700">
            <a:solidFill>
              <a:srgbClr val="E86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68000" y="4176000"/>
            <a:ext cx="108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Liberation Sans"/>
              </a:rPr>
              <a:t>C2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4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INPUT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PROCESS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20000" y="1080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1" i="0">
                <a:solidFill>
                  <a:srgbClr val="D4A843"/>
                </a:solidFill>
                <a:latin typeface="Liberation Sans"/>
              </a:rPr>
              <a:t>OUTPUT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Three Cities / 三つの都市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F3A1151F-636E-425F-8FA3-E00E12A556C3}" type="slidenum">
              <a:rPr lang="en-US" dirty="0"/>
              <a:t>18</a:t>
            </a:fld>
          </a:p>
        </p:txBody>
      </p:sp>
      <p:pic>
        <p:nvPicPr>
          <p:cNvPr id="6" name="Picture 5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40000" y="1080000"/>
            <a:ext cx="3420000" cy="126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0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Infrastructure becomes legible when structure and meaning stay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“Build for reuse.”</a:t>
            </a:r>
          </a:p>
        </p:txBody>
      </p:sp>
      <p:pic>
        <p:nvPicPr>
          <p:cNvPr id="10" name="Picture 9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972000"/>
            <a:ext cx="3420000" cy="4896000"/>
          </a:xfrm>
          <a:prstGeom prst="rect">
            <a:avLst/>
          </a:prstGeom>
        </p:spPr>
      </p:pic>
      <p:pic>
        <p:nvPicPr>
          <p:cNvPr id="11" name="Picture 10" descr="texture-pattern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284000" y="1080000"/>
            <a:ext cx="3420000" cy="12600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284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Noto Sans CJK JP"/>
              </a:rPr>
              <a:t>システム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84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Noto Sans CJK JP"/>
              </a:rPr>
              <a:t>生成されたスライドは構造と意味を保持します。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4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“意味を保つ。”</a:t>
            </a:r>
          </a:p>
        </p:txBody>
      </p:sp>
      <p:pic>
        <p:nvPicPr>
          <p:cNvPr id="15" name="Picture 14" descr="cityscape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028000" y="1080000"/>
            <a:ext cx="3420000" cy="12600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28000" y="2448000"/>
            <a:ext cx="34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rlito"/>
              </a:rPr>
              <a:t>Shared Futures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28000" y="2951999"/>
            <a:ext cx="3420000" cy="1620000"/>
          </a:xfrm>
          <a:prstGeom prst="rect">
            <a:avLst/>
          </a:prstGeom>
          <a:noFill/>
        </p:spPr>
        <p:txBody>
          <a:bodyPr wrap="square" anchor="t" lIns="43200" rIns="43200" tIns="21600" bIns="21600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Liberation Sans"/>
              </a:rPr>
              <a:t>Editable artifacts let teams continue the work after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28000" y="4752000"/>
            <a:ext cx="3420000" cy="79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400" b="0" i="1">
                <a:solidFill>
                  <a:srgbClr val="E8634A"/>
                </a:solidFill>
                <a:latin typeface="Liberation Sans"/>
              </a:rPr>
              <a:t>“The artifact is the product.”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135" y="200391"/>
            <a:ext cx="10800000" cy="540000"/>
          </a:xfrm>
        </p:spPr>
        <p:txBody>
          <a:bodyPr wrap="square" lIns="43200" rIns="43200" tIns="21600" bIns="21600"/>
          <a:lstStyle/>
          <a:p>
            <a:r>
              <a:rPr sz="3600" b="1" i="0">
                <a:solidFill>
                  <a:srgbClr val="FFFFFF"/>
                </a:solidFill>
                <a:latin typeface="Liberation Sans"/>
              </a:rPr>
              <a:t>Design System Audit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cxnSp>
        <p:nvCxnSpPr>
          <p:cNvPr id="4" name="Connector 3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56878739-6A3B-4EBE-9ED0-C07BC5904328}" type="slidenum">
              <a:rPr lang="en-US" dirty="0"/>
              <a:t>19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720000" y="11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rlito"/>
              </a:rPr>
              <a:t>Typography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960000" y="13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0000" y="20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Palette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60000" y="22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0000" y="29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Spacing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960000" y="31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20000" y="3851999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Line Weight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60000" y="4067999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0000" y="4752000"/>
            <a:ext cx="288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Liberation Sans"/>
              </a:rPr>
              <a:t>Navigation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60000" y="4968000"/>
            <a:ext cx="6480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32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E8634A"/>
                </a:solidFill>
                <a:latin typeface="Liberation Sans"/>
              </a:rPr>
              <a:t>Return to 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0000" y="5364000"/>
            <a:ext cx="2520000" cy="36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400" b="1" i="0">
                <a:solidFill>
                  <a:srgbClr val="2AACB8"/>
                </a:solidFill>
                <a:latin typeface="Liberation Sans"/>
              </a:rPr>
              <a:t>Meet the Team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0000" y="198000"/>
            <a:ext cx="10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rlito"/>
              </a:rPr>
              <a:t>AcidSlide Synthesis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6300000"/>
            <a:ext cx="12192000" cy="0"/>
          </a:xfrm>
          <a:prstGeom prst="line">
            <a:avLst/>
          </a:prstGeom>
          <a:ln w="6350">
            <a:solidFill>
              <a:srgbClr val="2AAC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16000" y="6343200"/>
            <a:ext cx="1440000" cy="16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  <a:latin typeface="Liberation Sans"/>
              </a:rPr>
              <a:t>ACIDSLIDE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48000" y="6318000"/>
            <a:ext cx="432000" cy="198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/>
            <a:fld id="{CCDC22CF-225F-4D9D-8F9F-4E286D33CD2A}" type="slidenum">
              <a:rPr lang="en-US" dirty="0"/>
              <a:t>20</a:t>
            </a:fld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360000" y="972000"/>
          <a:ext cx="3780000" cy="18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320000" y="972000"/>
          <a:ext cx="4320000" cy="14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0000"/>
                <a:gridCol w="720000"/>
                <a:gridCol w="720000"/>
                <a:gridCol w="720000"/>
                <a:gridCol w="720000"/>
                <a:gridCol w="720000"/>
              </a:tblGrid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Tier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Slides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Checks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SSIM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Schema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300" b="1" i="0">
                          <a:solidFill>
                            <a:srgbClr val="FFFFFF"/>
                          </a:solidFill>
                          <a:latin typeface="Liberation Sans"/>
                        </a:rPr>
                        <a:t>Status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L1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70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0F1923"/>
                    </a:solidFill>
                  </a:tcPr>
                </a:tc>
              </a:tr>
              <a:tr h="480000">
                <a:tc>
                  <a:txBody>
                    <a:bodyPr wrap="square" lIns="43200" rIns="43200" tIns="21600" bIns="21600"/>
                    <a:lstStyle/>
                    <a:p>
                      <a:pPr algn="l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L3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280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0.9999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  <a:tc>
                  <a:txBody>
                    <a:bodyPr wrap="square" lIns="43200" rIns="43200" tIns="21600" bIns="21600"/>
                    <a:lstStyle/>
                    <a:p>
                      <a:pPr algn="ctr"/>
                      <a:r>
                        <a:rPr sz="1200" b="0" i="0">
                          <a:solidFill>
                            <a:srgbClr val="F5F3EE"/>
                          </a:solidFill>
                          <a:latin typeface="Liberation Sans"/>
                        </a:rPr>
                        <a:t>Ready</a:t>
                      </a:r>
                    </a:p>
                  </a:txBody>
                  <a:tcPr>
                    <a:solidFill>
                      <a:srgbClr val="161F2E"/>
                    </a:solidFill>
                  </a:tcPr>
                </a:tc>
              </a:tr>
            </a:tbl>
          </a:graphicData>
        </a:graphic>
      </p:graphicFrame>
      <p:pic>
        <p:nvPicPr>
          <p:cNvPr id="8" name="Picture 7" descr="hero-abstract.png"/>
          <p:cNvPicPr>
            <a:picLocks noChangeAspect="1"/>
          </p:cNvPicPr>
          <p:nvPr/>
        </p:nvPicPr>
        <p:blipFill>
          <a:blip r:embed="rId3"/>
          <a:srcRect l="20000"/>
          <a:stretch>
            <a:fillRect/>
          </a:stretch>
        </p:blipFill>
        <p:spPr>
          <a:xfrm>
            <a:off x="9000000" y="972000"/>
            <a:ext cx="2700000" cy="1800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r" rtl="1"/>
            <a:r>
              <a:rPr sz="1800" b="0" i="0">
                <a:solidFill>
                  <a:srgbClr val="FFFFFF"/>
                </a:solidFill>
                <a:latin typeface="Noto Sans Arabic"/>
              </a:rPr>
              <a:t>اختبار شامل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0000" y="2951999"/>
            <a:ext cx="252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Noto Sans CJK JP"/>
              </a:rPr>
              <a:t>総合テスト</a:t>
            </a:r>
          </a:p>
        </p:txBody>
      </p:sp>
      <p:sp>
        <p:nvSpPr>
          <p:cNvPr id="11" name="TextBox 10"/>
          <p:cNvSpPr txBox="1"/>
          <p:nvPr/>
        </p:nvSpPr>
        <p:spPr>
          <a:xfrm rot="2700000">
            <a:off x="6120000" y="3060000"/>
            <a:ext cx="1800000" cy="540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Liberation Sans"/>
              </a:rPr>
              <a:t>ROTATED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80000" y="2880000"/>
            <a:ext cx="2160000" cy="1440000"/>
          </a:xfrm>
          <a:prstGeom prst="roundRect">
            <a:avLst/>
          </a:prstGeom>
          <a:solidFill>
            <a:srgbClr val="1B2A4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856000" y="3168000"/>
            <a:ext cx="2160000" cy="1440000"/>
          </a:xfrm>
          <a:prstGeom prst="roundRect">
            <a:avLst/>
          </a:prstGeom>
          <a:solidFill>
            <a:srgbClr val="E8634A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32000" y="3456000"/>
            <a:ext cx="2160000" cy="1440000"/>
          </a:xfrm>
          <a:prstGeom prst="roundRect">
            <a:avLst/>
          </a:prstGeom>
          <a:solidFill>
            <a:srgbClr val="2AACB8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4500000"/>
            <a:ext cx="5040000" cy="1368000"/>
          </a:xfrm>
          <a:prstGeom prst="rect">
            <a:avLst/>
          </a:prstGeom>
          <a:gradFill rotWithShape="1">
            <a:gsLst>
              <a:gs pos="0">
                <a:srgbClr val="1B2A4A"/>
              </a:gs>
              <a:gs pos="100000">
                <a:srgbClr val="2AACB8"/>
              </a:gs>
            </a:gsLst>
            <a:lin ang="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0000" y="4680000"/>
            <a:ext cx="4320000" cy="936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Looks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Built right</a:t>
            </a:r>
          </a:p>
          <a:p>
            <a:pPr algn="l"/>
            <a:r>
              <a:rPr sz="1600" b="1" i="0">
                <a:solidFill>
                  <a:srgbClr val="FFFFFF"/>
                </a:solidFill>
                <a:latin typeface="Liberation Sans"/>
              </a:rPr>
              <a:t>• Reproduces from source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000" y="5040000"/>
            <a:ext cx="3240000" cy="432000"/>
          </a:xfrm>
          <a:prstGeom prst="rect">
            <a:avLst/>
          </a:prstGeom>
          <a:noFill/>
        </p:spPr>
        <p:txBody>
          <a:bodyPr wrap="square" anchor="ctr" lIns="43200" rIns="43200" tIns="21600" bIns="2160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Liberation Sans"/>
              </a:rPr>
              <a:t>Current slide: </a:t>
            </a:r>
            <a:fld id="{A30CC658-1E9B-470F-97EC-003D96028054}" type="slidenum">
              <a:rPr lang="en-US" dirty="0"/>
              <a:t>20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Gloss comparative v1 — Native precise — run 3</dc:title>
  <dc:subject>deterministic generation-path baseline seed 3301</dc:subject>
  <dc:creator>Gloss contributors</dc:creator>
  <cp:keywords>Gloss, AcidSlide, deterministic baseline, editable PowerPoint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