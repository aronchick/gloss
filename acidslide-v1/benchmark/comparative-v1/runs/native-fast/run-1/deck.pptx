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Annual Revenue by Region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  <c:pt idx="4">
                  <c:v>Middle East &amp; Africa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42.3</c:v>
                </c:pt>
                <c:pt idx="1">
                  <c:v>28.7</c:v>
                </c:pt>
                <c:pt idx="2">
                  <c:v>19.4</c:v>
                </c:pt>
                <c:pt idx="3">
                  <c:v>8.1</c:v>
                </c:pt>
                <c:pt idx="4">
                  <c:v>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E8634A"/>
            </a:solidFill>
          </c:spPr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  <c:pt idx="4">
                  <c:v>Middle East &amp; Africa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51.8</c:v>
                </c:pt>
                <c:pt idx="1">
                  <c:v>35.2</c:v>
                </c:pt>
                <c:pt idx="2">
                  <c:v>31.6</c:v>
                </c:pt>
                <c:pt idx="3">
                  <c:v>12.4</c:v>
                </c:pt>
                <c:pt idx="4">
                  <c:v>7.2</c:v>
                </c:pt>
              </c:numCache>
            </c:numRef>
          </c:val>
        </c:ser>
        <c:axId val="2000000010"/>
        <c:axId val="2000000011"/>
      </c:barChart>
      <c:catAx>
        <c:axId val="2000000010"/>
        <c:scaling>
          <c:orientation val="minMax"/>
        </c:scaling>
        <c:delete val="0"/>
        <c:axPos val="l"/>
        <c:majorTickMark val="out"/>
        <c:minorTickMark val="none"/>
        <c:tickLblPos val="nextTo"/>
        <c:crossAx val="2000000011"/>
        <c:crosses val="autoZero"/>
        <c:auto val="1"/>
        <c:lblAlgn val="ctr"/>
        <c:lblOffset val="100"/>
        <c:noMultiLvlLbl val="0"/>
      </c:catAx>
      <c:valAx>
        <c:axId val="2000000011"/>
        <c:scaling/>
        <c:delete val="0"/>
        <c:axPos val="b"/>
        <c:majorGridlines/>
        <c:majorTickMark val="out"/>
        <c:minorTickMark val="none"/>
        <c:tickLblPos val="nextTo"/>
        <c:crossAx val="2000000010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Checks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Structure</c:v>
                </c:pt>
                <c:pt idx="1">
                  <c:v>Text</c:v>
                </c:pt>
                <c:pt idx="2">
                  <c:v>Visual</c:v>
                </c:pt>
                <c:pt idx="3">
                  <c:v>Assets</c:v>
                </c:pt>
                <c:pt idx="4">
                  <c:v>Fields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22</c:v>
                </c:pt>
                <c:pt idx="2">
                  <c:v>18</c:v>
                </c:pt>
                <c:pt idx="3">
                  <c:v>14</c:v>
                </c:pt>
                <c:pt idx="4">
                  <c:v>10</c:v>
                </c:pt>
                <c:pt idx="5">
                  <c:v>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Structural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</c:v>
                </c:pt>
                <c:pt idx="1">
                  <c:v>84</c:v>
                </c:pt>
                <c:pt idx="2">
                  <c:v>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Visual</c:v>
                </c:pt>
              </c:strCache>
            </c:strRef>
          </c:tx>
          <c:spPr>
            <a:solidFill>
              <a:srgbClr val="E8634A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68</c:v>
                </c:pt>
                <c:pt idx="1">
                  <c:v>82</c:v>
                </c:pt>
                <c:pt idx="2">
                  <c:v>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Combined</c:v>
                </c:pt>
              </c:strCache>
            </c:strRef>
          </c:tx>
          <c:spPr>
            <a:solidFill>
              <a:srgbClr val="2AACB8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70</c:v>
                </c:pt>
                <c:pt idx="1">
                  <c:v>83</c:v>
                </c:pt>
                <c:pt idx="2">
                  <c:v>97</c:v>
                </c:pt>
              </c:numCache>
            </c:numRef>
          </c:val>
          <c:smooth val="0"/>
        </c:ser>
        <c:marker val="1"/>
        <c:smooth val="0"/>
        <c:axId val="2000000030"/>
        <c:axId val="2000000031"/>
      </c:lineChart>
      <c:catAx>
        <c:axId val="2000000030"/>
        <c:scaling>
          <c:orientation val="minMax"/>
        </c:scaling>
        <c:delete val="0"/>
        <c:axPos val="b"/>
        <c:majorTickMark val="out"/>
        <c:minorTickMark val="none"/>
        <c:tickLblPos val="nextTo"/>
        <c:crossAx val="2000000031"/>
        <c:crosses val="autoZero"/>
        <c:auto val="1"/>
        <c:lblAlgn val="ctr"/>
        <c:lblOffset val="100"/>
        <c:noMultiLvlLbl val="0"/>
      </c:catAx>
      <c:valAx>
        <c:axId val="2000000031"/>
        <c:scaling/>
        <c:delete val="0"/>
        <c:axPos val="l"/>
        <c:majorGridlines/>
        <c:majorTickMark val="out"/>
        <c:minorTickMark val="none"/>
        <c:tickLblPos val="nextTo"/>
        <c:crossAx val="2000000030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rlito"/>
              </a:rPr>
              <a:t>AcidSlide v1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2400" b="0" i="0">
                <a:solidFill>
                  <a:srgbClr val="E8634A"/>
                </a:solidFill>
                <a:latin typeface="Carlito"/>
              </a:rPr>
              <a:t>Benchmark for Slide Generation Fidelity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0D9D4B9-1B05-431F-B495-E380068C87EE}" type="slidenum">
              <a:rPr lang="en-US" dirty="0"/>
              <a:t>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760000" y="2880000"/>
            <a:ext cx="3600000" cy="2160000"/>
          </a:xfrm>
          <a:prstGeom prst="roundRect">
            <a:avLst/>
          </a:prstGeom>
          <a:solidFill>
            <a:srgbClr val="D4A84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1440000"/>
            <a:ext cx="2880000" cy="2880000"/>
          </a:xfrm>
          <a:prstGeom prst="roundRect">
            <a:avLst/>
          </a:prstGeom>
          <a:solidFill>
            <a:srgbClr val="2AACB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6792120" y="720000"/>
            <a:ext cx="5400000" cy="367199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80000" y="360000"/>
            <a:ext cx="2160000" cy="3600000"/>
          </a:xfrm>
          <a:prstGeom prst="roundRect">
            <a:avLst/>
          </a:prstGeom>
          <a:solidFill>
            <a:srgbClr val="E8634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048" y="231430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1080000"/>
            <a:ext cx="7200000" cy="4860000"/>
          </a:xfrm>
        </p:spPr>
        <p:txBody>
          <a:bodyPr/>
          <a:lstStyle/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Opening Remarks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Welcome and introductions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Safety briefing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Technical Deep Dive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Architecture overview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Performance benchmarks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Security audit results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Breakout Sessions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A: Infrastructure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B: Applications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Closing &amp; Next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6DD77C3-9342-46E5-B282-E6E82145D41B}" type="slidenum">
              <a:rPr lang="en-US" dirty="0"/>
              <a:t>2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8640000" y="1512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476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09:00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0000" y="2988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952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11:30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0000" y="4463999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4428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14:00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Performance Metrics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E7CA6D81-C065-4FD1-A653-F58327FBCF3B}" type="slidenum">
              <a:rPr lang="en-US" dirty="0"/>
              <a:t>3</a:t>
            </a:fld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1080000"/>
          <a:ext cx="1080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2160000"/>
                <a:gridCol w="2160000"/>
                <a:gridCol w="2160000"/>
                <a:gridCol w="2160000"/>
              </a:tblGrid>
              <a:tr h="864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Q1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Q2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Q3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Target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864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Latency (p50)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12ms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11ms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9ms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≤10ms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864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Latency (p99)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89ms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72ms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58ms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≤75ms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864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Throughput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1,200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1,450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1,890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≥2,000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864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Error Rate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0.12%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0.08%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0.04%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≤0.05%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40000" y="5472000"/>
            <a:ext cx="2880000" cy="792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Throughput target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missed by 5.5%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808" y="280450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Revenue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196855B-2593-47CE-B4D4-52905E26CE69}" type="slidenum">
              <a:rPr lang="en-US" dirty="0"/>
              <a:t>4</a:t>
            </a:fld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0000" y="1080000"/>
          <a:ext cx="7200000" cy="48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80000" y="1440000"/>
            <a:ext cx="3240000" cy="25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Key Takeaways: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Total revenue up 38.2% YoY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APAC fastest-growing region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All regions exceeded targets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0" y="2951999"/>
            <a:ext cx="1800000" cy="72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+62.9% YoY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4536000"/>
            <a:ext cx="1800000" cy="720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+84.6% YoY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965" y="203237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Our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B5915B6B-6060-4881-A3E0-7076D4377D33}" type="slidenum">
              <a:rPr lang="en-US" dirty="0"/>
              <a:t>5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4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4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Sarah 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Chief 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15 years building distributed systems at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2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Marcus Rivera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Head of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Formerly at Apple, obsessed with pixel-perfect interfaces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0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Yuki Tanaka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ML Engineering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PhD in NLP, built the model serving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963F0BD1-9E27-434E-B68D-1127944A87E9}" type="slidenum">
              <a:rPr lang="en-US" dirty="0"/>
              <a:t>6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36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Liberation Sans"/>
              </a:rPr>
              <a:t>Global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The rapid advancement of language models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has transformed how organizations approach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document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r>
              <a:rPr sz="2400" b="1" i="0">
                <a:solidFill>
                  <a:srgbClr val="FFFFFF"/>
                </a:solidFill>
                <a:latin typeface="Noto Sans Arabic"/>
              </a:rPr>
              <a:t>وجهات نظر عالمية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لقد أدى التقدم السريع في نماذج اللغة إلى تحويل</a:t>
            </a:r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كيفية تعامل المؤسسات مع إنشاء المستندات.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</a:rPr>
              <a:t>グローバルな視点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言語モデルの急速な進歩により、組織がドキュメント生成に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取り組む方法が変革されました。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31999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000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00000" y="4680000"/>
            <a:ext cx="4320000" cy="1440000"/>
          </a:xfrm>
          <a:prstGeom prst="roundRect">
            <a:avLst/>
          </a:prstGeom>
          <a:solidFill>
            <a:srgbClr val="E8634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AI-generated slides must handle RTL text,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CJK line breaking, and mixed scripts correctly.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Image Handling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5CD9886C-FAB8-4B95-82C5-920E439A2665}" type="slidenum">
              <a:rPr lang="en-US" dirty="0"/>
              <a:t>7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 t="15000" b="10000"/>
          <a:stretch>
            <a:fillRect/>
          </a:stretch>
        </p:blipFill>
        <p:spPr>
          <a:xfrm>
            <a:off x="540000" y="900000"/>
            <a:ext cx="3600000" cy="2880000"/>
          </a:xfrm>
          <a:prstGeom prst="rect">
            <a:avLst/>
          </a:prstGeom>
        </p:spPr>
      </p:pic>
      <p:pic>
        <p:nvPicPr>
          <p:cNvPr id="7" name="Picture 6" descr="cityscape.png"/>
          <p:cNvPicPr>
            <a:picLocks noChangeAspect="1"/>
          </p:cNvPicPr>
          <p:nvPr/>
        </p:nvPicPr>
        <p:blipFill>
          <a:blip r:embed="rId2"/>
          <a:srcRect l="30000"/>
          <a:stretch>
            <a:fillRect/>
          </a:stretch>
        </p:blipFill>
        <p:spPr>
          <a:xfrm>
            <a:off x="4680000" y="900000"/>
            <a:ext cx="2880000" cy="2880000"/>
          </a:xfrm>
          <a:prstGeom prst="rect">
            <a:avLst/>
          </a:prstGeom>
        </p:spPr>
      </p:pic>
      <p:pic>
        <p:nvPicPr>
          <p:cNvPr id="8" name="Picture 7" descr="texture-pattern.png"/>
          <p:cNvPicPr>
            <a:picLocks noChangeAspect="1"/>
          </p:cNvPicPr>
          <p:nvPr/>
        </p:nvPicPr>
        <p:blipFill>
          <a:blip r:embed="rId3"/>
          <a:srcRect r="25000"/>
          <a:stretch>
            <a:fillRect/>
          </a:stretch>
        </p:blipFill>
        <p:spPr>
          <a:xfrm>
            <a:off x="8100000" y="900000"/>
            <a:ext cx="3600000" cy="288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Full panorama 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Circle-masked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Rounded corner crop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1260000"/>
            <a:ext cx="2160000" cy="2160000"/>
          </a:xfrm>
          <a:prstGeom prst="roundRect">
            <a:avLst/>
          </a:prstGeom>
          <a:solidFill>
            <a:srgbClr val="1B2A4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400" b="1" i="0">
                <a:solidFill>
                  <a:srgbClr val="FFFFFF"/>
                </a:solidFill>
                <a:latin typeface="Liberation Sans"/>
              </a:rPr>
              <a:t>PREVIEW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Depth &amp; Layering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67DDCD65-0E94-4801-92EE-3947F6D8036F}" type="slidenum">
              <a:rPr lang="en-US" dirty="0"/>
              <a:t>8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440000" y="2160000"/>
            <a:ext cx="4320000" cy="288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0" y="1800000"/>
            <a:ext cx="4320000" cy="2880000"/>
          </a:xfrm>
          <a:prstGeom prst="roundRect">
            <a:avLst/>
          </a:prstGeom>
          <a:solidFill>
            <a:srgbClr val="2AACB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0" y="1440000"/>
            <a:ext cx="4320000" cy="2880000"/>
          </a:xfrm>
          <a:prstGeom prst="roundRect">
            <a:avLst/>
          </a:prstGeom>
          <a:solidFill>
            <a:srgbClr val="E863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0000" y="1080000"/>
            <a:ext cx="4320000" cy="2880000"/>
          </a:xfrm>
          <a:prstGeom prst="roundRect">
            <a:avLst/>
          </a:prstGeom>
          <a:solidFill>
            <a:srgbClr val="D4A8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720000"/>
            <a:ext cx="4320000" cy="288000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400000"/>
            <a:ext cx="12192000" cy="900000"/>
          </a:xfrm>
          <a:prstGeom prst="rect">
            <a:avLst/>
          </a:prstGeom>
          <a:gradFill rotWithShape="1">
            <a:gsLst>
              <a:gs pos="0">
                <a:srgbClr val="0F1923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171" y="198002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API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BF1BC09-4B67-4761-8E92-170366A895C9}" type="slidenum">
              <a:rPr lang="en-US" dirty="0"/>
              <a:t>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E8634A"/>
                </a:solidFill>
                <a:latin typeface="Liberation Sans"/>
              </a:rPr>
              <a:t>Fixed Size (clips)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/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2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2AACB8"/>
                </a:solidFill>
                <a:latin typeface="Liberation Sans"/>
              </a:rPr>
              <a:t>Auto-Shrink (fits)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2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norm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Error Responses: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401 Unauthorized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403 Forbidden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404 Not Found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Rate Limits: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Free tier: 10 req/min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Pro tier: 60 req/min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System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76C94BB-17A7-4FC6-BB17-45ABBA25F064}" type="slidenum">
              <a:rPr lang="en-US" dirty="0"/>
              <a:t>10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720000" y="1080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Client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0000" y="1080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API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Auth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3240000"/>
            <a:ext cx="1800000" cy="864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Job Queue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Grader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Object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0000" y="5112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Leaderboard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20000" y="1512000"/>
            <a:ext cx="252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780000" y="1944000"/>
            <a:ext cx="216000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0000" y="1944000"/>
            <a:ext cx="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40000" y="3671999"/>
            <a:ext cx="36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940000" y="4104000"/>
            <a:ext cx="2160000" cy="1008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96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4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11999" y="1224000"/>
            <a:ext cx="72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HTTPS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0000" y="2340000"/>
            <a:ext cx="90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JWT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8000" y="2448000"/>
            <a:ext cx="792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Enqueue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072" y="264863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Brand 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5C3F3A2B-8172-4DE1-9072-BE036F1C7E72}" type="slidenum">
              <a:rPr lang="en-US" dirty="0"/>
              <a:t>11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1800000" y="1152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Primary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1152000"/>
            <a:ext cx="1440000" cy="144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Secondary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80000" y="1152000"/>
            <a:ext cx="1440000" cy="144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Accent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0" y="3311999"/>
            <a:ext cx="1440000" cy="1440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  <a:latin typeface="Liberation Sans"/>
              </a:rPr>
              <a:t>Override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0000" y="3311999"/>
            <a:ext cx="1440000" cy="144000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7B2D8E"/>
                </a:solidFill>
                <a:latin typeface="Liberation Sans"/>
              </a:rPr>
              <a:t>Override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0000" y="3311999"/>
            <a:ext cx="1440000" cy="1440000"/>
          </a:xfrm>
          <a:prstGeom prst="round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3D9970"/>
                </a:solidFill>
                <a:latin typeface="Liberation Sans"/>
              </a:rPr>
              <a:t>Override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0000" y="5616000"/>
            <a:ext cx="90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Top row uses theme roles. Bottom row uses explicit RGB values.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Changing the theme updates the top row but not the bottom row.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44" y="218485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Document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890B64B-4D13-4A14-8CBA-CF1F3C09E500}" type="slidenum">
              <a:rPr lang="en-US" dirty="0"/>
              <a:t>12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1080000" y="144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01D94E05-C2E1-4902-AC05-91E74F3FFE66}" type="slidenum">
              <a:rPr lang="en-US" dirty="0"/>
              <a:t>12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580000" y="144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Live slide number field (not static text)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52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Generated: 2025-01-15 10:30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0000" y="252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Fixed date/time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360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AcidSlide Benchmark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0000" y="360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Footer from master placeholder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486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Composite Stress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D3747883-BD65-40E8-91B0-A579D6BBC35A}" type="slidenum">
              <a:rPr lang="en-US" dirty="0"/>
              <a:t>13</a:t>
            </a:fld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080000"/>
          <a:ext cx="3600000" cy="288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680000" y="1080000"/>
          <a:ext cx="324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/>
                <a:gridCol w="1080000"/>
                <a:gridCol w="1080000"/>
              </a:tblGrid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Check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Weight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Schema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3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Rendering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Assets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Review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cityscape.png"/>
          <p:cNvPicPr>
            <a:picLocks noChangeAspect="1"/>
          </p:cNvPicPr>
          <p:nvPr/>
        </p:nvPicPr>
        <p:blipFill>
          <a:blip r:embed="rId3"/>
          <a:srcRect l="15000"/>
          <a:stretch>
            <a:fillRect/>
          </a:stretch>
        </p:blipFill>
        <p:spPr>
          <a:xfrm>
            <a:off x="8280000" y="1080000"/>
            <a:ext cx="2880000" cy="216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20000" y="4500000"/>
            <a:ext cx="576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الهيكل والمحتوى والعرض في اختبار واحد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CHART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APPROVED ASSET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753" y="241613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RTL Systems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EE7CE91D-872E-4547-9323-193CE87C5BE0}" type="slidenum">
              <a:rPr lang="en-US" dirty="0"/>
              <a:t>14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40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مراجعة الأنظمة الموزعة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دقة العرض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سلامة البنية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The الذكاء الاصطناعي revolution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الإصدار AcidSlide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2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A structural benchmark must preserve meaning and direction.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Rendering alone cannot establish editability.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Native objects keep content reusable.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Bidirectional text must retain Unicode order.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Every claim needs a reproducible artifact.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48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Rotation Atlas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F6EF414-94B3-4AB0-BC4B-2742AAED0B41}" type="slidenum">
              <a:rPr lang="en-US" dirty="0"/>
              <a:t>15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0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Baseline 0°</a:t>
            </a:r>
          </a:p>
        </p:txBody>
      </p:sp>
      <p:sp>
        <p:nvSpPr>
          <p:cNvPr id="8" name="Rounded Rectangle 7"/>
          <p:cNvSpPr/>
          <p:nvPr/>
        </p:nvSpPr>
        <p:spPr>
          <a:xfrm rot="2700000">
            <a:off x="2772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 rot="2700000">
            <a:off x="2951999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Diagonal 45°</a:t>
            </a:r>
          </a:p>
        </p:txBody>
      </p:sp>
      <p:sp>
        <p:nvSpPr>
          <p:cNvPr id="10" name="Rounded Rectangle 9"/>
          <p:cNvSpPr/>
          <p:nvPr/>
        </p:nvSpPr>
        <p:spPr>
          <a:xfrm rot="5400000">
            <a:off x="5004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 rot="5400000">
            <a:off x="5184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90°</a:t>
            </a:r>
          </a:p>
        </p:txBody>
      </p:sp>
      <p:sp>
        <p:nvSpPr>
          <p:cNvPr id="12" name="Rounded Rectangle 11"/>
          <p:cNvSpPr/>
          <p:nvPr/>
        </p:nvSpPr>
        <p:spPr>
          <a:xfrm rot="8100000">
            <a:off x="7236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8100000">
            <a:off x="7416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Reverse 135°</a:t>
            </a:r>
          </a:p>
        </p:txBody>
      </p:sp>
      <p:sp>
        <p:nvSpPr>
          <p:cNvPr id="14" name="Rounded Rectangle 13"/>
          <p:cNvSpPr/>
          <p:nvPr/>
        </p:nvSpPr>
        <p:spPr>
          <a:xfrm rot="16200000">
            <a:off x="9468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9648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270°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Beyond the Frame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C3BB644-44AD-437B-9BCD-5437D353FC2E}" type="slidenum">
              <a:rPr lang="en-US" dirty="0"/>
              <a:t>16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-1080000" y="-720000"/>
            <a:ext cx="3600000" cy="360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92120" y="2160000"/>
            <a:ext cx="4320000" cy="2160000"/>
          </a:xfrm>
          <a:prstGeom prst="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0" y="-360000"/>
            <a:ext cx="5760000" cy="108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0" y="2520000"/>
            <a:ext cx="6480000" cy="7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rlito"/>
              </a:rPr>
              <a:t>INTENTIONAL BLEED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0" y="3600000"/>
            <a:ext cx="72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Liberation Sans"/>
              </a:rPr>
              <a:t>Negative coordinates are part of the composition.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Nested Systems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95DE237B-553C-4AD8-8557-ECE95FB08A41}" type="slidenum">
              <a:rPr lang="en-US" dirty="0"/>
              <a:t>17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36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6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8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6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6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0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0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0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4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4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Three Cities / 三つの都市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140BB6E9-3841-4205-A9A4-EA9A3908C02B}" type="slidenum">
              <a:rPr lang="en-US" dirty="0"/>
              <a:t>18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0000" y="1080000"/>
            <a:ext cx="3420000" cy="12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Infrastructure becomes legible when structure and meaning stay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“Build for reuse.”</a:t>
            </a:r>
          </a:p>
        </p:txBody>
      </p:sp>
      <p:pic>
        <p:nvPicPr>
          <p:cNvPr id="10" name="Picture 9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972000"/>
            <a:ext cx="3420000" cy="4896000"/>
          </a:xfrm>
          <a:prstGeom prst="rect">
            <a:avLst/>
          </a:prstGeom>
        </p:spPr>
      </p:pic>
      <p:pic>
        <p:nvPicPr>
          <p:cNvPr id="11" name="Picture 10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1080000"/>
            <a:ext cx="3420000" cy="126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84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Noto Sans CJK JP"/>
              </a:rPr>
              <a:t>システム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4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Noto Sans CJK JP"/>
              </a:rPr>
              <a:t>生成されたスライドは構造と意味を保持します。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4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“意味を保つ。”</a:t>
            </a:r>
          </a:p>
        </p:txBody>
      </p:sp>
      <p:pic>
        <p:nvPicPr>
          <p:cNvPr id="15" name="Picture 14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28000" y="1080000"/>
            <a:ext cx="3420000" cy="12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28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Shared Futures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Editable artifacts let teams continue the work after generation.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“The artifact is the product.”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921" y="274467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Design System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42ACD82-B880-4A34-8D9A-034C98A5FE22}" type="slidenum">
              <a:rPr lang="en-US" dirty="0"/>
              <a:t>19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720000" y="11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rlito"/>
              </a:rPr>
              <a:t>Typography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60000" y="13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0000" y="20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Palette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60000" y="22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0000" y="29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Spacing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60000" y="31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0000" y="38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Line Weight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60000" y="40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0000" y="47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Navigation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60000" y="49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2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E8634A"/>
                </a:solidFill>
                <a:latin typeface="Liberation Sans"/>
              </a:rPr>
              <a:t>Return to 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2AACB8"/>
                </a:solidFill>
                <a:latin typeface="Liberation Sans"/>
              </a:rPr>
              <a:t>Meet the Team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AcidSlide Synthesis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80DEB4AA-B5BF-4410-97FF-8BD88F1AC06D}" type="slidenum">
              <a:rPr lang="en-US" dirty="0"/>
              <a:t>20</a:t>
            </a:fld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0000" y="972000"/>
          <a:ext cx="3780000" cy="18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20000" y="972000"/>
          <a:ext cx="432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/>
                <a:gridCol w="720000"/>
                <a:gridCol w="720000"/>
                <a:gridCol w="720000"/>
                <a:gridCol w="720000"/>
                <a:gridCol w="720000"/>
              </a:tblGrid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Tier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Slides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Checks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SSIM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Schema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L1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5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70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0.9999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Ready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L3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20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280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0.9999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Ready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hero-abstract.png"/>
          <p:cNvPicPr>
            <a:picLocks noChangeAspect="1"/>
          </p:cNvPicPr>
          <p:nvPr/>
        </p:nvPicPr>
        <p:blipFill>
          <a:blip r:embed="rId3"/>
          <a:srcRect l="20000"/>
          <a:stretch>
            <a:fillRect/>
          </a:stretch>
        </p:blipFill>
        <p:spPr>
          <a:xfrm>
            <a:off x="9000000" y="972000"/>
            <a:ext cx="2700000" cy="18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Noto Sans Arabic"/>
              </a:rPr>
              <a:t>اختبار شامل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Noto Sans CJK JP"/>
              </a:rPr>
              <a:t>総合テスト</a:t>
            </a:r>
          </a:p>
        </p:txBody>
      </p:sp>
      <p:sp>
        <p:nvSpPr>
          <p:cNvPr id="11" name="TextBox 10"/>
          <p:cNvSpPr txBox="1"/>
          <p:nvPr/>
        </p:nvSpPr>
        <p:spPr>
          <a:xfrm rot="2700000">
            <a:off x="6120000" y="306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ROTATED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0000" y="2880000"/>
            <a:ext cx="2160000" cy="1440000"/>
          </a:xfrm>
          <a:prstGeom prst="roundRect">
            <a:avLst/>
          </a:prstGeom>
          <a:solidFill>
            <a:srgbClr val="1B2A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56000" y="3168000"/>
            <a:ext cx="2160000" cy="1440000"/>
          </a:xfrm>
          <a:prstGeom prst="roundRect">
            <a:avLst/>
          </a:prstGeom>
          <a:solidFill>
            <a:srgbClr val="E8634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32000" y="3456000"/>
            <a:ext cx="2160000" cy="1440000"/>
          </a:xfrm>
          <a:prstGeom prst="roundRect">
            <a:avLst/>
          </a:prstGeom>
          <a:solidFill>
            <a:srgbClr val="2AACB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500000"/>
            <a:ext cx="5040000" cy="1368000"/>
          </a:xfrm>
          <a:prstGeom prst="rect">
            <a:avLst/>
          </a:prstGeom>
          <a:gradFill rotWithShape="1">
            <a:gsLst>
              <a:gs pos="0">
                <a:srgbClr val="1B2A4A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" y="4680000"/>
            <a:ext cx="4320000" cy="93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Looks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Built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Reproduces from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0" y="5040000"/>
            <a:ext cx="324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7528C5EF-A625-4032-BFDE-23518D028781}" type="slidenum">
              <a:rPr lang="en-US" dirty="0"/>
              <a:t>20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Gloss comparative v1 — Native fast — run 1</dc:title>
  <dc:subject>deterministic generation-path baseline seed 1103</dc:subject>
  <dc:creator>Gloss contributors</dc:creator>
  <cp:keywords>Gloss, AcidSlide, deterministic baseline, editable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