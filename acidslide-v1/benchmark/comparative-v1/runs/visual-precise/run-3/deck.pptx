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rlito"/>
              </a:rPr>
              <a:t>AcidSlide v1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2400" b="0" i="0">
                <a:solidFill>
                  <a:srgbClr val="E8634A"/>
                </a:solidFill>
                <a:latin typeface="Carlito"/>
              </a:rPr>
              <a:t>Benchmark for Slide Generation Fidelity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ACEDC206-EC38-4840-827B-9DDC44B9775D}" type="slidenum">
              <a:rPr lang="en-US" dirty="0"/>
              <a:t>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760000" y="2880000"/>
            <a:ext cx="3600000" cy="2160000"/>
          </a:xfrm>
          <a:prstGeom prst="roundRect">
            <a:avLst/>
          </a:prstGeom>
          <a:solidFill>
            <a:srgbClr val="D4A84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1440000"/>
            <a:ext cx="2880000" cy="2880000"/>
          </a:xfrm>
          <a:prstGeom prst="roundRect">
            <a:avLst/>
          </a:prstGeom>
          <a:solidFill>
            <a:srgbClr val="2AACB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6792120" y="720000"/>
            <a:ext cx="5400000" cy="367199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80000" y="360000"/>
            <a:ext cx="2160000" cy="3600000"/>
          </a:xfrm>
          <a:prstGeom prst="roundRect">
            <a:avLst/>
          </a:prstGeom>
          <a:solidFill>
            <a:srgbClr val="E8634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872" y="191896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080000"/>
            <a:ext cx="7200000" cy="4860000"/>
          </a:xfrm>
        </p:spPr>
        <p:txBody>
          <a:bodyPr/>
          <a:lstStyle/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Opening Remarks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Welcome and introductions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Safety briefing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Technical Deep Dive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Architecture overview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Performance benchmarks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Security audit results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Breakout Sessions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A: Infrastructure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B: Applications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Closing &amp;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1A3BA0C-8EBE-4781-994E-06B7D8A2746F}" type="slidenum">
              <a:rPr lang="en-US" dirty="0"/>
              <a:t>2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8640000" y="1512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476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09:00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0000" y="2988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952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11:30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0000" y="4463999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4428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14:00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Performance Metrics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1CF39C68-174C-494F-AE82-716967DCB185}" type="slidenum">
              <a:rPr lang="en-US" dirty="0"/>
              <a:t>3</a:t>
            </a:fld>
          </a:p>
        </p:txBody>
      </p:sp>
      <p:sp>
        <p:nvSpPr>
          <p:cNvPr id="6" name="Rectangle 5"/>
          <p:cNvSpPr/>
          <p:nvPr/>
        </p:nvSpPr>
        <p:spPr>
          <a:xfrm>
            <a:off x="54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270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Q1 2024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486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Q2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702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Q3 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0000" y="1080000"/>
            <a:ext cx="2160000" cy="612000"/>
          </a:xfrm>
          <a:prstGeom prst="rect">
            <a:avLst/>
          </a:prstGeom>
          <a:solidFill>
            <a:srgbClr val="1B2A4A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Latency (p50)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0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12ms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6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11ms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2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9ms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0000" y="169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≤10ms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Latency (p99)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0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89ms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6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72ms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2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58ms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0000" y="2304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≤75ms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Throughput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0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1,200 rps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6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1,450 rps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2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1,890 rps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0000" y="2916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≥2,000 rps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Error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0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0.12%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6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0.08%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02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0.04%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80000" y="3528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≤0.05%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0000" y="4140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Uptime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00000" y="4140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99.91%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60000" y="4140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99.95%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20000" y="4140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99.98%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80000" y="4140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≥99.95%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0000" y="475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Cache Hit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00000" y="475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72%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60000" y="475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78%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020000" y="475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84%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0000" y="4752000"/>
            <a:ext cx="2160000" cy="612000"/>
          </a:xfrm>
          <a:prstGeom prst="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≥80%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40000" y="5472000"/>
            <a:ext cx="2880000" cy="792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Throughput target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missed by 5.5%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035" y="196496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Revenue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A2B8219F-36D5-4888-AE83-25D1CD0878AE}" type="slidenum">
              <a:rPr lang="en-US" dirty="0"/>
              <a:t>4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1260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North America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3131999" y="1418400"/>
            <a:ext cx="3960000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64000" y="1260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51.8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2052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Europe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31999" y="2210400"/>
            <a:ext cx="2690965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64000" y="2052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35.2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2844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Asia Pacific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31999" y="3002400"/>
            <a:ext cx="2415752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64000" y="2844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31.6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3636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Latin America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31999" y="3794400"/>
            <a:ext cx="947953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64000" y="3636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12.4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4428000"/>
            <a:ext cx="2448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Middle East &amp; Africa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31999" y="4586400"/>
            <a:ext cx="550424" cy="44352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4000" y="4428000"/>
            <a:ext cx="576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7.2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0000" y="1440000"/>
            <a:ext cx="3240000" cy="25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Key Takeaways: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Total revenue up 38.2% YoY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APAC fastest-growing region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All regions exceeded targets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000" y="2951999"/>
            <a:ext cx="1800000" cy="72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+62.9% YoY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000" y="4536000"/>
            <a:ext cx="1800000" cy="720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+84.6% YoY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32" y="199950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6E96FC4D-4791-4A94-AACB-A9DD3186E4E5}" type="slidenum">
              <a:rPr lang="en-US" dirty="0"/>
              <a:t>5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4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4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Sarah 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Chief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15 years building distributed systems at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2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Marcus Rivera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Head of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Formerly at Apple, obsessed with pixel-perfect interfaces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Yuki Tanaka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ML Engineering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PhD in NLP, built the model serving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D941ABD1-4A0C-4A17-A7DD-E05A59428944}" type="slidenum">
              <a:rPr lang="en-US" dirty="0"/>
              <a:t>6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Liberation Sans"/>
              </a:rPr>
              <a:t>Global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The rapid advancement of language models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has transformed how organizations approach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document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r>
              <a:rPr sz="2400" b="1" i="0">
                <a:solidFill>
                  <a:srgbClr val="FFFFFF"/>
                </a:solidFill>
                <a:latin typeface="Noto Sans Arabic"/>
              </a:rPr>
              <a:t>وجهات نظر عالمية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لقد أدى التقدم السريع في نماذج اللغة إلى تحويل</a:t>
            </a:r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كيفية تعامل المؤسسات مع إنشاء المستندات.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</a:rPr>
              <a:t>グローバルな視点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言語モデルの急速な進歩により、組織がドキュメント生成に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取り組む方法が変革されました。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31999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000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00000" y="4680000"/>
            <a:ext cx="4320000" cy="1440000"/>
          </a:xfrm>
          <a:prstGeom prst="roundRect">
            <a:avLst/>
          </a:prstGeom>
          <a:solidFill>
            <a:srgbClr val="E8634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AI-generated slides must handle RTL text,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CJK line breaking, and mixed scripts correctly.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Image Handling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B5091A1-1A5C-4F3B-AF2B-49EB8377E6AB}" type="slidenum">
              <a:rPr lang="en-US" dirty="0"/>
              <a:t>7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 t="15000" b="10000"/>
          <a:stretch>
            <a:fillRect/>
          </a:stretch>
        </p:blipFill>
        <p:spPr>
          <a:xfrm>
            <a:off x="540000" y="900000"/>
            <a:ext cx="3600000" cy="2880000"/>
          </a:xfrm>
          <a:prstGeom prst="rect">
            <a:avLst/>
          </a:prstGeom>
        </p:spPr>
      </p:pic>
      <p:pic>
        <p:nvPicPr>
          <p:cNvPr id="7" name="Picture 6" descr="cityscape.png"/>
          <p:cNvPicPr>
            <a:picLocks noChangeAspect="1"/>
          </p:cNvPicPr>
          <p:nvPr/>
        </p:nvPicPr>
        <p:blipFill>
          <a:blip r:embed="rId2"/>
          <a:srcRect l="30000"/>
          <a:stretch>
            <a:fillRect/>
          </a:stretch>
        </p:blipFill>
        <p:spPr>
          <a:xfrm>
            <a:off x="4680000" y="900000"/>
            <a:ext cx="2880000" cy="2880000"/>
          </a:xfrm>
          <a:prstGeom prst="rect">
            <a:avLst/>
          </a:prstGeom>
        </p:spPr>
      </p:pic>
      <p:pic>
        <p:nvPicPr>
          <p:cNvPr id="8" name="Picture 7" descr="texture-pattern.png"/>
          <p:cNvPicPr>
            <a:picLocks noChangeAspect="1"/>
          </p:cNvPicPr>
          <p:nvPr/>
        </p:nvPicPr>
        <p:blipFill>
          <a:blip r:embed="rId3"/>
          <a:srcRect r="25000"/>
          <a:stretch>
            <a:fillRect/>
          </a:stretch>
        </p:blipFill>
        <p:spPr>
          <a:xfrm>
            <a:off x="8100000" y="900000"/>
            <a:ext cx="3600000" cy="28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Full panorama 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Circle-masked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Rounded corner crop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1260000"/>
            <a:ext cx="2160000" cy="2160000"/>
          </a:xfrm>
          <a:prstGeom prst="roundRect">
            <a:avLst/>
          </a:prstGeom>
          <a:solidFill>
            <a:srgbClr val="1B2A4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400" b="1" i="0">
                <a:solidFill>
                  <a:srgbClr val="FFFFFF"/>
                </a:solidFill>
                <a:latin typeface="Liberation Sans"/>
              </a:rPr>
              <a:t>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Depth &amp; Layering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99D7385-9B9B-4AA6-BBA7-B6A0F386F731}" type="slidenum">
              <a:rPr lang="en-US" dirty="0"/>
              <a:t>8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440000" y="2160000"/>
            <a:ext cx="4320000" cy="288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0" y="1800000"/>
            <a:ext cx="4320000" cy="2880000"/>
          </a:xfrm>
          <a:prstGeom prst="roundRect">
            <a:avLst/>
          </a:prstGeom>
          <a:solidFill>
            <a:srgbClr val="2AACB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0" y="1440000"/>
            <a:ext cx="4320000" cy="2880000"/>
          </a:xfrm>
          <a:prstGeom prst="roundRect">
            <a:avLst/>
          </a:prstGeom>
          <a:solidFill>
            <a:srgbClr val="E863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0000" y="1080000"/>
            <a:ext cx="4320000" cy="2880000"/>
          </a:xfrm>
          <a:prstGeom prst="roundRect">
            <a:avLst/>
          </a:prstGeom>
          <a:solidFill>
            <a:srgbClr val="D4A8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720000"/>
            <a:ext cx="4320000" cy="288000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400000"/>
            <a:ext cx="12192000" cy="900000"/>
          </a:xfrm>
          <a:prstGeom prst="rect">
            <a:avLst/>
          </a:prstGeom>
          <a:gradFill rotWithShape="1">
            <a:gsLst>
              <a:gs pos="0">
                <a:srgbClr val="0F1923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081" y="20443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API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0AB8533-8F7F-4827-99AB-C09A78CE30F8}" type="slidenum">
              <a:rPr lang="en-US" dirty="0"/>
              <a:t>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E8634A"/>
                </a:solidFill>
                <a:latin typeface="Liberation Sans"/>
              </a:rPr>
              <a:t>Fixed Size (clips)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/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2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2AACB8"/>
                </a:solidFill>
                <a:latin typeface="Liberation Sans"/>
              </a:rPr>
              <a:t>Auto-Shrink (fits)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2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norm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Error Responses: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401 Unauthorized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403 Forbidden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404 Not Found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Rate Limits: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Free tier: 10 req/min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Pro tier: 60 req/min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System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C11C9F72-5714-4237-ADE7-B995DAEB23E9}" type="slidenum">
              <a:rPr lang="en-US" dirty="0"/>
              <a:t>10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720000" y="1080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Client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0000" y="1080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API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Auth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3240000"/>
            <a:ext cx="1800000" cy="864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Job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Grader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Object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0000" y="5112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Leaderboard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20000" y="1512000"/>
            <a:ext cx="252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80000" y="1944000"/>
            <a:ext cx="216000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0000" y="1944000"/>
            <a:ext cx="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40000" y="3671999"/>
            <a:ext cx="36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940000" y="4104000"/>
            <a:ext cx="2160000" cy="1008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96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4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11999" y="1224000"/>
            <a:ext cx="72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0000" y="2340000"/>
            <a:ext cx="90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JWT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8000" y="2448000"/>
            <a:ext cx="792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Enqueue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719" y="200459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Brand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AFE0848F-3B3C-49E4-94F3-DFB241CE3AB4}" type="slidenum">
              <a:rPr lang="en-US" dirty="0"/>
              <a:t>11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1800000" y="1152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Primary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1152000"/>
            <a:ext cx="1440000" cy="144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Secondary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0000" y="1152000"/>
            <a:ext cx="1440000" cy="144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Accent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0" y="3311999"/>
            <a:ext cx="1440000" cy="1440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Liberation Sans"/>
              </a:rPr>
              <a:t>Override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0000" y="3311999"/>
            <a:ext cx="1440000" cy="144000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7B2D8E"/>
                </a:solidFill>
                <a:latin typeface="Liberation Sans"/>
              </a:rPr>
              <a:t>Override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0000" y="3311999"/>
            <a:ext cx="1440000" cy="1440000"/>
          </a:xfrm>
          <a:prstGeom prst="round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3D9970"/>
                </a:solidFill>
                <a:latin typeface="Liberation Sans"/>
              </a:rPr>
              <a:t>Override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0000" y="5616000"/>
            <a:ext cx="90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Top row uses theme roles. Bottom row uses explicit RGB values.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Changing the theme updates the top row but not the bottom row.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064" y="198518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Document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6F761648-A4F8-430C-9361-91397F77874A}" type="slidenum">
              <a:rPr lang="en-US" dirty="0"/>
              <a:t>12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1080000" y="144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4E93077F-4760-417B-B5B0-25F95D0FE80D}" type="slidenum">
              <a:rPr lang="en-US" dirty="0"/>
              <a:t>12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580000" y="144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Live slide number field (not static 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2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Generated: 2025-01-15 10:30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0000" y="252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Fixed date/time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60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AcidSlide Benchmark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000" y="360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Footer from master placeholder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486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Composite Stress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9860573-724C-45D4-9ADC-8103A5429A3A}" type="slidenum">
              <a:rPr lang="en-US" dirty="0"/>
              <a:t>13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540000" y="108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35999" y="1176000"/>
            <a:ext cx="1980000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52000" y="108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56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35999" y="1655999"/>
            <a:ext cx="1555714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52000" y="156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039999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Visual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35999" y="2135999"/>
            <a:ext cx="1272857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52000" y="2039999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52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Assets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35999" y="2616000"/>
            <a:ext cx="990000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52000" y="252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2999999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Fields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35999" y="3096000"/>
            <a:ext cx="707142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52000" y="2999999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3480000"/>
            <a:ext cx="1224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Other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35999" y="3576000"/>
            <a:ext cx="565714" cy="2688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52000" y="3480000"/>
            <a:ext cx="288000" cy="48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Check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6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40000" y="1080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Weight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8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Schema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40000" y="1692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Rendering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40000" y="2304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8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Assets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Review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40000" y="2916000"/>
            <a:ext cx="1080000" cy="612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000" b="1" i="0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pic>
        <p:nvPicPr>
          <p:cNvPr id="36" name="Picture 35" descr="cityscape.png"/>
          <p:cNvPicPr>
            <a:picLocks noChangeAspect="1"/>
          </p:cNvPicPr>
          <p:nvPr/>
        </p:nvPicPr>
        <p:blipFill>
          <a:blip r:embed="rId2"/>
          <a:srcRect l="15000"/>
          <a:stretch>
            <a:fillRect/>
          </a:stretch>
        </p:blipFill>
        <p:spPr>
          <a:xfrm>
            <a:off x="8280000" y="1080000"/>
            <a:ext cx="2880000" cy="2160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320000" y="4500000"/>
            <a:ext cx="576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الهيكل والمحتوى والعرض في اختبار واحد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CHART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TABLE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APPROVED ASSET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863" y="20644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RTL Systems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D89C64A-D72D-4721-B36E-04834172B0BF}" type="slidenum">
              <a:rPr lang="en-US" dirty="0"/>
              <a:t>14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40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مراجعة الأنظمة الموزعة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دقة العرض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سلامة البنية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The الذكاء الاصطناعي revolution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الإصدار AcidSlide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2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A structural benchmark must preserve meaning and direction.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Rendering alone cannot establish editability.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Native objects keep content reusable.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Bidirectional text must retain Unicode order.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Every claim needs a reproducible artifact.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48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Rotation Atlas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0415ED20-A254-4AE8-8A97-F51A28CE4BC9}" type="slidenum">
              <a:rPr lang="en-US" dirty="0"/>
              <a:t>15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0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Baseline 0°</a:t>
            </a:r>
          </a:p>
        </p:txBody>
      </p:sp>
      <p:sp>
        <p:nvSpPr>
          <p:cNvPr id="8" name="Rounded Rectangle 7"/>
          <p:cNvSpPr/>
          <p:nvPr/>
        </p:nvSpPr>
        <p:spPr>
          <a:xfrm rot="2700000">
            <a:off x="2772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 rot="2700000">
            <a:off x="2951999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Diagonal 45°</a:t>
            </a:r>
          </a:p>
        </p:txBody>
      </p:sp>
      <p:sp>
        <p:nvSpPr>
          <p:cNvPr id="10" name="Rounded Rectangle 9"/>
          <p:cNvSpPr/>
          <p:nvPr/>
        </p:nvSpPr>
        <p:spPr>
          <a:xfrm rot="5400000">
            <a:off x="5004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5400000">
            <a:off x="5184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90°</a:t>
            </a:r>
          </a:p>
        </p:txBody>
      </p:sp>
      <p:sp>
        <p:nvSpPr>
          <p:cNvPr id="12" name="Rounded Rectangle 11"/>
          <p:cNvSpPr/>
          <p:nvPr/>
        </p:nvSpPr>
        <p:spPr>
          <a:xfrm rot="8100000">
            <a:off x="7236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8100000">
            <a:off x="7416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Reverse 135°</a:t>
            </a:r>
          </a:p>
        </p:txBody>
      </p:sp>
      <p:sp>
        <p:nvSpPr>
          <p:cNvPr id="14" name="Rounded Rectangle 13"/>
          <p:cNvSpPr/>
          <p:nvPr/>
        </p:nvSpPr>
        <p:spPr>
          <a:xfrm rot="16200000">
            <a:off x="9468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9648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270°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Beyond the Frame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B3D4E69-2DE4-4864-ACE9-7165522405FA}" type="slidenum">
              <a:rPr lang="en-US" dirty="0"/>
              <a:t>16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-1080000" y="-720000"/>
            <a:ext cx="3600000" cy="360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92120" y="2160000"/>
            <a:ext cx="4320000" cy="2160000"/>
          </a:xfrm>
          <a:prstGeom prst="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0" y="-360000"/>
            <a:ext cx="5760000" cy="108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0" y="2520000"/>
            <a:ext cx="6480000" cy="7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rlito"/>
              </a:rPr>
              <a:t>INTENTIONAL BLEED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3600000"/>
            <a:ext cx="72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Liberation Sans"/>
              </a:rPr>
              <a:t>Negative coordinates are part of the composition.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Nested Systems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6B69993-DDDB-42B1-852C-C7C3ACB8E460}" type="slidenum">
              <a:rPr lang="en-US" dirty="0"/>
              <a:t>17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36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6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8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6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0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4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4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Three Cities / 三つの都市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5B1CC522-3C9E-45C9-A301-83B450CF8583}" type="slidenum">
              <a:rPr lang="en-US" dirty="0"/>
              <a:t>18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0000" y="1080000"/>
            <a:ext cx="3420000" cy="12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Infrastructure becomes legible when structure and meaning stay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“Build for reuse.”</a:t>
            </a:r>
          </a:p>
        </p:txBody>
      </p:sp>
      <p:pic>
        <p:nvPicPr>
          <p:cNvPr id="10" name="Picture 9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972000"/>
            <a:ext cx="3420000" cy="4896000"/>
          </a:xfrm>
          <a:prstGeom prst="rect">
            <a:avLst/>
          </a:prstGeom>
        </p:spPr>
      </p:pic>
      <p:pic>
        <p:nvPicPr>
          <p:cNvPr id="11" name="Picture 10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1080000"/>
            <a:ext cx="3420000" cy="12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84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Noto Sans CJK JP"/>
              </a:rPr>
              <a:t>システム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4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Noto Sans CJK JP"/>
              </a:rPr>
              <a:t>生成されたスライドは構造と意味を保持します。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4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“意味を保つ。”</a:t>
            </a:r>
          </a:p>
        </p:txBody>
      </p:sp>
      <p:pic>
        <p:nvPicPr>
          <p:cNvPr id="15" name="Picture 14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28000" y="1080000"/>
            <a:ext cx="3420000" cy="12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28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Shared Futures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Editable artifacts let teams continue the work after generation.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“The artifact is the product.”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2702" y="201587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Design System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D6B95E6A-E800-44FC-AE5A-2502B96BD705}" type="slidenum">
              <a:rPr lang="en-US" dirty="0"/>
              <a:t>19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720000" y="11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rlito"/>
              </a:rPr>
              <a:t>Typography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60000" y="13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0000" y="20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Palette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60000" y="22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0000" y="29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Spacing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60000" y="31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0000" y="38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Line Weight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60000" y="40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0000" y="47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Navigation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60000" y="49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2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E8634A"/>
                </a:solidFill>
                <a:latin typeface="Liberation Sans"/>
              </a:rPr>
              <a:t>Return to 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2AACB8"/>
                </a:solidFill>
                <a:latin typeface="Liberation Sans"/>
              </a:rPr>
              <a:t>Meet the Team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AcidSlide Synthesis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A5BECBB5-4E64-4BF9-9D74-0325C5EA9BC4}" type="slidenum">
              <a:rPr lang="en-US" dirty="0"/>
              <a:t>20</a:t>
            </a:fld>
          </a:p>
        </p:txBody>
      </p:sp>
      <p:sp>
        <p:nvSpPr>
          <p:cNvPr id="6" name="TextBox 5"/>
          <p:cNvSpPr txBox="1"/>
          <p:nvPr/>
        </p:nvSpPr>
        <p:spPr>
          <a:xfrm>
            <a:off x="360000" y="9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L1</a:t>
            </a:r>
          </a:p>
        </p:txBody>
      </p:sp>
      <p:sp>
        <p:nvSpPr>
          <p:cNvPr id="7" name="Rectangle 6"/>
          <p:cNvSpPr/>
          <p:nvPr/>
        </p:nvSpPr>
        <p:spPr>
          <a:xfrm>
            <a:off x="1720799" y="1092000"/>
            <a:ext cx="1500309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37600" y="9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15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20799" y="1692000"/>
            <a:ext cx="1778938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7600" y="15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2172000"/>
            <a:ext cx="12852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L3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0799" y="2292000"/>
            <a:ext cx="2079000" cy="336000"/>
          </a:xfrm>
          <a:prstGeom prst="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37600" y="2172000"/>
            <a:ext cx="302400" cy="60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97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Tier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Slides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Checks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8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SSIM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Schema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0" y="972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L1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4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70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8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0.9999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20000" y="1440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Ready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L3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4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280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8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0.9999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0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20000" y="1908000"/>
            <a:ext cx="720000" cy="468000"/>
          </a:xfrm>
          <a:prstGeom prst="rect">
            <a:avLst/>
          </a:prstGeom>
          <a:solidFill>
            <a:srgbClr val="16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800" b="1" i="0">
                <a:solidFill>
                  <a:srgbClr val="FFFFFF"/>
                </a:solidFill>
                <a:latin typeface="Liberation Sans"/>
              </a:rPr>
              <a:t>Ready</a:t>
            </a:r>
          </a:p>
        </p:txBody>
      </p:sp>
      <p:pic>
        <p:nvPicPr>
          <p:cNvPr id="33" name="Picture 32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9000000" y="972000"/>
            <a:ext cx="2700000" cy="18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Noto Sans Arabic"/>
              </a:rPr>
              <a:t>اختبار شامل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Noto Sans CJK JP"/>
              </a:rPr>
              <a:t>総合テスト</a:t>
            </a:r>
          </a:p>
        </p:txBody>
      </p:sp>
      <p:sp>
        <p:nvSpPr>
          <p:cNvPr id="36" name="TextBox 35"/>
          <p:cNvSpPr txBox="1"/>
          <p:nvPr/>
        </p:nvSpPr>
        <p:spPr>
          <a:xfrm rot="2700000">
            <a:off x="6120000" y="306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ROTATED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80000" y="2880000"/>
            <a:ext cx="2160000" cy="1440000"/>
          </a:xfrm>
          <a:prstGeom prst="roundRect">
            <a:avLst/>
          </a:prstGeom>
          <a:solidFill>
            <a:srgbClr val="1B2A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856000" y="3168000"/>
            <a:ext cx="2160000" cy="1440000"/>
          </a:xfrm>
          <a:prstGeom prst="roundRect">
            <a:avLst/>
          </a:prstGeom>
          <a:solidFill>
            <a:srgbClr val="E8634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432000" y="3456000"/>
            <a:ext cx="2160000" cy="1440000"/>
          </a:xfrm>
          <a:prstGeom prst="roundRect">
            <a:avLst/>
          </a:prstGeom>
          <a:solidFill>
            <a:srgbClr val="2AACB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4500000"/>
            <a:ext cx="5040000" cy="1368000"/>
          </a:xfrm>
          <a:prstGeom prst="rect">
            <a:avLst/>
          </a:prstGeom>
          <a:gradFill rotWithShape="1">
            <a:gsLst>
              <a:gs pos="0">
                <a:srgbClr val="1B2A4A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0000" y="4680000"/>
            <a:ext cx="4320000" cy="93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Looks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Built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Reproduces from source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000" y="5040000"/>
            <a:ext cx="324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587BB7B1-81E3-4C3A-AFE4-EE15B36121FC}" type="slidenum">
              <a:rPr lang="en-US" dirty="0"/>
              <a:t>20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Gloss comparative v1 — Visual precise — run 3</dc:title>
  <dc:subject>deterministic generation-path baseline seed 3301</dc:subject>
  <dc:creator>Gloss contributors</dc:creator>
  <cp:keywords>Gloss, AcidSlide, deterministic baseline, editable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