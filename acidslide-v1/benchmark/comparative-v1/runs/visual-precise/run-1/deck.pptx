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43200" rIns="43200" tIns="21600" bIns="21600"/>
          <a:lstStyle/>
          <a:p>
            <a:pPr algn="ctr"/>
            <a:r>
              <a:rPr sz="4400" b="1" i="0">
                <a:solidFill>
                  <a:srgbClr val="FFFFFF"/>
                </a:solidFill>
                <a:latin typeface="Carlito"/>
              </a:rPr>
              <a:t>AcidSlide v1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 lIns="43200" rIns="43200" tIns="21600" bIns="21600"/>
          <a:lstStyle/>
          <a:p>
            <a:pPr algn="ctr"/>
            <a:r>
              <a:rPr sz="2400" b="0" i="0">
                <a:solidFill>
                  <a:srgbClr val="E8634A"/>
                </a:solidFill>
                <a:latin typeface="Carlito"/>
              </a:rPr>
              <a:t>Benchmark for Slide Generation Fidelity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258900A8-D81F-46A0-9628-ABB7D783297B}" type="slidenum">
              <a:rPr lang="en-US" dirty="0"/>
              <a:t>1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5760000" y="2880000"/>
            <a:ext cx="3600000" cy="2160000"/>
          </a:xfrm>
          <a:prstGeom prst="roundRect">
            <a:avLst/>
          </a:prstGeom>
          <a:solidFill>
            <a:srgbClr val="D4A84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40000" y="1440000"/>
            <a:ext cx="2880000" cy="2880000"/>
          </a:xfrm>
          <a:prstGeom prst="roundRect">
            <a:avLst/>
          </a:prstGeom>
          <a:solidFill>
            <a:srgbClr val="2AACB8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ero-abstract.png"/>
          <p:cNvPicPr>
            <a:picLocks noChangeAspect="1"/>
          </p:cNvPicPr>
          <p:nvPr/>
        </p:nvPicPr>
        <p:blipFill>
          <a:blip r:embed="rId2"/>
          <a:srcRect l="20000"/>
          <a:stretch>
            <a:fillRect/>
          </a:stretch>
        </p:blipFill>
        <p:spPr>
          <a:xfrm>
            <a:off x="6792120" y="720000"/>
            <a:ext cx="5400000" cy="367199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80000" y="360000"/>
            <a:ext cx="2160000" cy="3600000"/>
          </a:xfrm>
          <a:prstGeom prst="roundRect">
            <a:avLst/>
          </a:prstGeom>
          <a:solidFill>
            <a:srgbClr val="E8634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867" y="197449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000" y="1080000"/>
            <a:ext cx="7200000" cy="4860000"/>
          </a:xfrm>
        </p:spPr>
        <p:txBody>
          <a:bodyPr/>
          <a:lstStyle/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Opening Remarks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Welcome and introductions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Safety briefing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Technical Deep Dive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Architecture overview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Performance benchmarks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Security audit results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Breakout Sessions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Track A: Infrastructure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Track B: Applications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Closing &amp; Next Steps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CA2AEE1F-E3AD-4576-8B2A-62D3FFB0A2F3}" type="slidenum">
              <a:rPr lang="en-US" dirty="0"/>
              <a:t>2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8640000" y="1512000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1476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09:00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40000" y="2988000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2952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11:30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0000" y="4463999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4428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14:00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Performance Metrics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9B54B164-92A7-443A-B85A-D766D288D0F5}" type="slidenum">
              <a:rPr lang="en-US" dirty="0"/>
              <a:t>3</a:t>
            </a:fld>
          </a:p>
        </p:txBody>
      </p:sp>
      <p:sp>
        <p:nvSpPr>
          <p:cNvPr id="6" name="Rectangle 5"/>
          <p:cNvSpPr/>
          <p:nvPr/>
        </p:nvSpPr>
        <p:spPr>
          <a:xfrm>
            <a:off x="540000" y="1080000"/>
            <a:ext cx="2160000" cy="612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Metric</a:t>
            </a:r>
          </a:p>
        </p:txBody>
      </p:sp>
      <p:sp>
        <p:nvSpPr>
          <p:cNvPr id="7" name="Rectangle 6"/>
          <p:cNvSpPr/>
          <p:nvPr/>
        </p:nvSpPr>
        <p:spPr>
          <a:xfrm>
            <a:off x="2700000" y="1080000"/>
            <a:ext cx="2160000" cy="612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Q1 2024</a:t>
            </a:r>
          </a:p>
        </p:txBody>
      </p:sp>
      <p:sp>
        <p:nvSpPr>
          <p:cNvPr id="8" name="Rectangle 7"/>
          <p:cNvSpPr/>
          <p:nvPr/>
        </p:nvSpPr>
        <p:spPr>
          <a:xfrm>
            <a:off x="4860000" y="1080000"/>
            <a:ext cx="2160000" cy="612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Q2 2024</a:t>
            </a:r>
          </a:p>
        </p:txBody>
      </p:sp>
      <p:sp>
        <p:nvSpPr>
          <p:cNvPr id="9" name="Rectangle 8"/>
          <p:cNvSpPr/>
          <p:nvPr/>
        </p:nvSpPr>
        <p:spPr>
          <a:xfrm>
            <a:off x="7020000" y="1080000"/>
            <a:ext cx="2160000" cy="612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Q3 2024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80000" y="1080000"/>
            <a:ext cx="2160000" cy="612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Target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169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Latency (p50)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00000" y="169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12ms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60000" y="169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11ms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20000" y="169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9ms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0000" y="169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≤10ms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0000" y="2304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Latency (p99)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00000" y="2304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89ms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60000" y="2304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72ms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20000" y="2304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58ms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0000" y="2304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≤75ms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0000" y="2916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Throughput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00000" y="2916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1,200 rps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60000" y="2916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1,450 rps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20000" y="2916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1,890 rps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80000" y="2916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≥2,000 rps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0" y="3528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Error Rate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00000" y="3528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0.12%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60000" y="3528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0.08%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20000" y="3528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0.04%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80000" y="3528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≤0.05%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0000" y="4140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Uptime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00000" y="4140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99.91%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60000" y="4140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99.95%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20000" y="4140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99.98%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80000" y="4140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≥99.95%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0000" y="475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Cache Hit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00000" y="475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72%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60000" y="475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78%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020000" y="475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84%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80000" y="475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≥80%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40000" y="5472000"/>
            <a:ext cx="2880000" cy="792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Throughput target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missed by 5.5%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316" y="207953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Revenue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C38B670E-0AA0-4869-8ED9-481FF4C780E4}" type="slidenum">
              <a:rPr lang="en-US" dirty="0"/>
              <a:t>4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540000" y="1260000"/>
            <a:ext cx="2448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North America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3131999" y="1418400"/>
            <a:ext cx="3960000" cy="44352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64000" y="1260000"/>
            <a:ext cx="576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51.8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2052000"/>
            <a:ext cx="2448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Europe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31999" y="2210400"/>
            <a:ext cx="2690965" cy="44352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64000" y="2052000"/>
            <a:ext cx="576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35.2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" y="2844000"/>
            <a:ext cx="2448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Asia Pacific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31999" y="3002400"/>
            <a:ext cx="2415752" cy="44352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64000" y="2844000"/>
            <a:ext cx="576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31.6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000" y="3636000"/>
            <a:ext cx="2448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Latin America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31999" y="3794400"/>
            <a:ext cx="947953" cy="44352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64000" y="3636000"/>
            <a:ext cx="576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12.4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000" y="4428000"/>
            <a:ext cx="2448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Middle East &amp; Africa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31999" y="4586400"/>
            <a:ext cx="550424" cy="44352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64000" y="4428000"/>
            <a:ext cx="576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7.2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0000" y="1440000"/>
            <a:ext cx="3240000" cy="252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Key Takeaways: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Total revenue up 38.2% YoY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APAC fastest-growing region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All regions exceeded targets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000" y="2951999"/>
            <a:ext cx="1800000" cy="72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+62.9% YoY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000" y="4536000"/>
            <a:ext cx="1800000" cy="72000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+84.6% YoY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92" y="191407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Our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6AE616FD-2B32-4CD6-9708-D64EC910BB01}" type="slidenum">
              <a:rPr lang="en-US" dirty="0"/>
              <a:t>5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54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44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Sarah Chen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Chief Architect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15 years building distributed systems at scale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2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Marcus Rivera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Head of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Formerly at Apple, obsessed with pixel-perfect interfaces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0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Yuki Tanaka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ML Engineering Lead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PhD in NLP, built the model serving infrastructure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FC20F9EC-0D11-4C01-B282-6D57DB8AB148}" type="slidenum">
              <a:rPr lang="en-US" dirty="0"/>
              <a:t>6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36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Liberation Sans"/>
              </a:rPr>
              <a:t>Global Perspectives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The rapid advancement of language models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has transformed how organizations approach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document generation.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r>
              <a:rPr sz="2400" b="1" i="0">
                <a:solidFill>
                  <a:srgbClr val="FFFFFF"/>
                </a:solidFill>
                <a:latin typeface="Noto Sans Arabic"/>
              </a:rPr>
              <a:t>وجهات نظر عالمية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لقد أدى التقدم السريع في نماذج اللغة إلى تحويل</a:t>
            </a:r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كيفية تعامل المؤسسات مع إنشاء المستندات.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</a:rPr>
              <a:t>グローバルな視点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Noto Sans CJK JP"/>
              </a:rPr>
              <a:t>言語モデルの急速な進歩により、組織がドキュメント生成に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Noto Sans CJK JP"/>
              </a:rPr>
              <a:t>取り組む方法が変革されました。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31999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100000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00000" y="4680000"/>
            <a:ext cx="4320000" cy="1440000"/>
          </a:xfrm>
          <a:prstGeom prst="roundRect">
            <a:avLst/>
          </a:prstGeom>
          <a:solidFill>
            <a:srgbClr val="E8634A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Liberation Sans"/>
              </a:rPr>
              <a:t>AI-generated slides must handle RTL text,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Liberation Sans"/>
              </a:rPr>
              <a:t>CJK line breaking, and mixed scripts correctly.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Image Handling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E1E3863D-A8FD-4058-BC80-19A682EEE93C}" type="slidenum">
              <a:rPr lang="en-US" dirty="0"/>
              <a:t>7</a:t>
            </a:fld>
          </a:p>
        </p:txBody>
      </p:sp>
      <p:pic>
        <p:nvPicPr>
          <p:cNvPr id="6" name="Picture 5" descr="cityscape.png"/>
          <p:cNvPicPr>
            <a:picLocks noChangeAspect="1"/>
          </p:cNvPicPr>
          <p:nvPr/>
        </p:nvPicPr>
        <p:blipFill>
          <a:blip r:embed="rId2"/>
          <a:srcRect t="15000" b="10000"/>
          <a:stretch>
            <a:fillRect/>
          </a:stretch>
        </p:blipFill>
        <p:spPr>
          <a:xfrm>
            <a:off x="540000" y="900000"/>
            <a:ext cx="3600000" cy="2880000"/>
          </a:xfrm>
          <a:prstGeom prst="rect">
            <a:avLst/>
          </a:prstGeom>
        </p:spPr>
      </p:pic>
      <p:pic>
        <p:nvPicPr>
          <p:cNvPr id="7" name="Picture 6" descr="cityscape.png"/>
          <p:cNvPicPr>
            <a:picLocks noChangeAspect="1"/>
          </p:cNvPicPr>
          <p:nvPr/>
        </p:nvPicPr>
        <p:blipFill>
          <a:blip r:embed="rId2"/>
          <a:srcRect l="30000"/>
          <a:stretch>
            <a:fillRect/>
          </a:stretch>
        </p:blipFill>
        <p:spPr>
          <a:xfrm>
            <a:off x="4680000" y="900000"/>
            <a:ext cx="2880000" cy="2880000"/>
          </a:xfrm>
          <a:prstGeom prst="rect">
            <a:avLst/>
          </a:prstGeom>
        </p:spPr>
      </p:pic>
      <p:pic>
        <p:nvPicPr>
          <p:cNvPr id="8" name="Picture 7" descr="texture-pattern.png"/>
          <p:cNvPicPr>
            <a:picLocks noChangeAspect="1"/>
          </p:cNvPicPr>
          <p:nvPr/>
        </p:nvPicPr>
        <p:blipFill>
          <a:blip r:embed="rId3"/>
          <a:srcRect r="25000"/>
          <a:stretch>
            <a:fillRect/>
          </a:stretch>
        </p:blipFill>
        <p:spPr>
          <a:xfrm>
            <a:off x="8100000" y="900000"/>
            <a:ext cx="3600000" cy="288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Full panorama crop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Circle-masked detail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Rounded corner crop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0000" y="1260000"/>
            <a:ext cx="2160000" cy="2160000"/>
          </a:xfrm>
          <a:prstGeom prst="roundRect">
            <a:avLst/>
          </a:prstGeom>
          <a:solidFill>
            <a:srgbClr val="1B2A4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400" b="1" i="0">
                <a:solidFill>
                  <a:srgbClr val="FFFFFF"/>
                </a:solidFill>
                <a:latin typeface="Liberation Sans"/>
              </a:rPr>
              <a:t>PREVIEW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Depth &amp; Layering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E581DFA9-1024-4D3A-A647-FAD8EC360FCB}" type="slidenum">
              <a:rPr lang="en-US" dirty="0"/>
              <a:t>8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1440000" y="2160000"/>
            <a:ext cx="4320000" cy="288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0" y="1800000"/>
            <a:ext cx="4320000" cy="2880000"/>
          </a:xfrm>
          <a:prstGeom prst="roundRect">
            <a:avLst/>
          </a:prstGeom>
          <a:solidFill>
            <a:srgbClr val="2AACB8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0" y="1440000"/>
            <a:ext cx="4320000" cy="2880000"/>
          </a:xfrm>
          <a:prstGeom prst="roundRect">
            <a:avLst/>
          </a:prstGeom>
          <a:solidFill>
            <a:srgbClr val="E8634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80000" y="1080000"/>
            <a:ext cx="4320000" cy="2880000"/>
          </a:xfrm>
          <a:prstGeom prst="roundRect">
            <a:avLst/>
          </a:prstGeom>
          <a:solidFill>
            <a:srgbClr val="D4A843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1B2A4A"/>
                </a:solidFill>
                <a:latin typeface="Liberation Sans"/>
              </a:rPr>
              <a:t>Layer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0" y="720000"/>
            <a:ext cx="4320000" cy="2880000"/>
          </a:xfrm>
          <a:prstGeom prst="round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1B2A4A"/>
                </a:solidFill>
                <a:latin typeface="Liberation Sans"/>
              </a:rPr>
              <a:t>Layer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400000"/>
            <a:ext cx="12192000" cy="900000"/>
          </a:xfrm>
          <a:prstGeom prst="rect">
            <a:avLst/>
          </a:prstGeom>
          <a:gradFill rotWithShape="1">
            <a:gsLst>
              <a:gs pos="0">
                <a:srgbClr val="0F1923"/>
              </a:gs>
              <a:gs pos="100000">
                <a:srgbClr val="2AACB8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6465" y="190286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API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73BB8BE7-507F-475B-B6FB-691E3A6C714D}" type="slidenum">
              <a:rPr lang="en-US" dirty="0"/>
              <a:t>9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540000" y="900000"/>
            <a:ext cx="504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100" b="1" i="0">
                <a:solidFill>
                  <a:srgbClr val="E8634A"/>
                </a:solidFill>
                <a:latin typeface="Liberation Sans"/>
              </a:rPr>
              <a:t>Fixed Size (clips)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152000"/>
            <a:ext cx="5040000" cy="4932000"/>
          </a:xfrm>
          <a:prstGeom prst="rect">
            <a:avLst/>
          </a:prstGeom>
          <a:noFill/>
        </p:spPr>
        <p:txBody>
          <a:bodyPr wrap="square" anchor="t" lIns="43200" rIns="43200" tIns="21600" bIns="21600"/>
          <a:lstStyle/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GET /api/v1/submissions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Authorization: Bearer YOUR_TOKEN_HERE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Content-Type: application/json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Query Parameters: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model_id    string  required  Filter by model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tier        integer optional  1, 2, or 3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status      string  optional  queued|grading|completed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limit       integer optional  Default: 20, max: 100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Response 200: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{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"submissions": [{"id": "sub_abc123", "model_id": "gpt-4o", "tier": 3, "status": "completed", "fidelity_score": 0.847}],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"total": 142,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"has_more": true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2000" y="900000"/>
            <a:ext cx="504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100" b="1" i="0">
                <a:solidFill>
                  <a:srgbClr val="2AACB8"/>
                </a:solidFill>
                <a:latin typeface="Liberation Sans"/>
              </a:rPr>
              <a:t>Auto-Shrink (fits)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2000" y="1152000"/>
            <a:ext cx="5040000" cy="4932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norm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GET /api/v1/submissions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Authorization: Bearer YOUR_TOKEN_HERE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Content-Type: application/json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Query Parameters: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model_id    string  required  Filter by model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tier        integer optional  1, 2, or 3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status      string  optional  queued|grading|completed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limit       integer optional  Default: 20, max: 100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Response 200: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{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"submissions": [{"id": "sub_abc123", "model_id": "gpt-4o", "tier": 3, "status": "completed", "fidelity_score": 0.847}],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"total": 142,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"has_more": true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}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Error Responses: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401 Unauthorized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403 Forbidden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404 Not Found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Rate Limits: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Free tier: 10 req/min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Pro tier: 60 req/min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System Architecture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712EC04D-B5E7-4B67-8971-0FE719B69C85}" type="slidenum">
              <a:rPr lang="en-US" dirty="0"/>
              <a:t>10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720000" y="1080000"/>
            <a:ext cx="1800000" cy="864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Client 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40000" y="1080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API Gateway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000" y="3240000"/>
            <a:ext cx="1800000" cy="864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Auth 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0000" y="3240000"/>
            <a:ext cx="1800000" cy="86400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Job Queue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0" y="3240000"/>
            <a:ext cx="1800000" cy="864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Grader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60000" y="5112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PostgreSQL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0000" y="5112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Object Store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0000" y="5112000"/>
            <a:ext cx="1800000" cy="864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Leaderboard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20000" y="1512000"/>
            <a:ext cx="252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780000" y="1944000"/>
            <a:ext cx="2160000" cy="1296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940000" y="1944000"/>
            <a:ext cx="0" cy="1296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40000" y="3671999"/>
            <a:ext cx="36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940000" y="4104000"/>
            <a:ext cx="2160000" cy="1008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960000" y="5544000"/>
            <a:ext cx="108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40000" y="5544000"/>
            <a:ext cx="108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311999" y="1224000"/>
            <a:ext cx="72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HTTPS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40000" y="2340000"/>
            <a:ext cx="90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JWT 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8000" y="2448000"/>
            <a:ext cx="792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Enqueue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658" y="204613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Brand Colors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307C38BF-0F46-4F8B-A459-503715EC646C}" type="slidenum">
              <a:rPr lang="en-US" dirty="0"/>
              <a:t>11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1800000" y="1152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Primary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0000" y="1152000"/>
            <a:ext cx="1440000" cy="1440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6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Secondary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80000" y="1152000"/>
            <a:ext cx="1440000" cy="144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Accent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00000" y="3311999"/>
            <a:ext cx="1440000" cy="14400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6B35"/>
                </a:solidFill>
                <a:latin typeface="Liberation Sans"/>
              </a:rPr>
              <a:t>Override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0000" y="3311999"/>
            <a:ext cx="1440000" cy="1440000"/>
          </a:xfrm>
          <a:prstGeom prst="roundRect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6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7B2D8E"/>
                </a:solidFill>
                <a:latin typeface="Liberation Sans"/>
              </a:rPr>
              <a:t>Override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80000" y="3311999"/>
            <a:ext cx="1440000" cy="1440000"/>
          </a:xfrm>
          <a:prstGeom prst="round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0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3D9970"/>
                </a:solidFill>
                <a:latin typeface="Liberation Sans"/>
              </a:rPr>
              <a:t>Override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0000" y="5616000"/>
            <a:ext cx="90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Liberation Sans"/>
              </a:rPr>
              <a:t>Top row uses theme roles. Bottom row uses explicit RGB values.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Liberation Sans"/>
              </a:rPr>
              <a:t>Changing the theme updates the top row but not the bottom row.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059" y="194675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Document Fields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CE1D3D0A-8101-478A-9CDB-CFD2F3F730BB}" type="slidenum">
              <a:rPr lang="en-US" dirty="0"/>
              <a:t>12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1080000" y="144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Current slide: </a:t>
            </a:r>
            <a:fld id="{5FFEA10B-0FFC-4ABE-979E-013161942AE5}" type="slidenum">
              <a:rPr lang="en-US" dirty="0"/>
              <a:t>12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5580000" y="144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Live slide number field (not static text)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252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Generated: 2025-01-15 10:30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0000" y="252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Fixed date/time 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000" y="360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AcidSlide Benchmark v1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0000" y="360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Footer from master placeholder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000" y="486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Composite Stress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58AA69EC-4A67-4FC9-982E-D1AF58FD9B10}" type="slidenum">
              <a:rPr lang="en-US" dirty="0"/>
              <a:t>13</a:t>
            </a:fld>
          </a:p>
        </p:txBody>
      </p:sp>
      <p:sp>
        <p:nvSpPr>
          <p:cNvPr id="6" name="TextBox 5"/>
          <p:cNvSpPr txBox="1"/>
          <p:nvPr/>
        </p:nvSpPr>
        <p:spPr>
          <a:xfrm>
            <a:off x="540000" y="1080000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1835999" y="1176000"/>
            <a:ext cx="1980000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52000" y="1080000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560000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35999" y="1655999"/>
            <a:ext cx="1555714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52000" y="1560000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2039999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Visual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35999" y="2135999"/>
            <a:ext cx="1272857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52000" y="2039999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2520000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Assets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35999" y="2616000"/>
            <a:ext cx="990000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52000" y="2520000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000" y="2999999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Fields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35999" y="3096000"/>
            <a:ext cx="707142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52000" y="2999999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000" y="3480000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Other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35999" y="3576000"/>
            <a:ext cx="565714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52000" y="3480000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80000" y="1080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Check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000" y="1080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40000" y="1080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Weight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80000" y="1692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Schema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000" y="1692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Pass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40000" y="1692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80000" y="2304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Rendering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000" y="2304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Pass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40000" y="2304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80000" y="2916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Assets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60000" y="2916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Review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40000" y="2916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1</a:t>
            </a:r>
          </a:p>
        </p:txBody>
      </p:sp>
      <p:pic>
        <p:nvPicPr>
          <p:cNvPr id="36" name="Picture 35" descr="cityscape.png"/>
          <p:cNvPicPr>
            <a:picLocks noChangeAspect="1"/>
          </p:cNvPicPr>
          <p:nvPr/>
        </p:nvPicPr>
        <p:blipFill>
          <a:blip r:embed="rId2"/>
          <a:srcRect l="15000"/>
          <a:stretch>
            <a:fillRect/>
          </a:stretch>
        </p:blipFill>
        <p:spPr>
          <a:xfrm>
            <a:off x="8280000" y="1080000"/>
            <a:ext cx="2880000" cy="21600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320000" y="4500000"/>
            <a:ext cx="576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الهيكل والمحتوى والعرض في اختبار واحد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NATIVE CHART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8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NATIVE TABLE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8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APPROVED ASSET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2447" y="199631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RTL Systems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cxnSp>
        <p:nvCxnSpPr>
          <p:cNvPr id="5" name="Connector 4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823D26C2-5CE4-4880-9A77-D5BDFF410900}" type="slidenum">
              <a:rPr lang="en-US" dirty="0"/>
              <a:t>14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540000" y="1080000"/>
            <a:ext cx="5256000" cy="468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مراجعة الأنظمة الموزعة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دقة العرض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سلامة البنية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The الذكاء الاصطناعي revolution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الإصدار AcidSlide v1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2000" y="1080000"/>
            <a:ext cx="5256000" cy="468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A structural benchmark must preserve meaning and direction.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Rendering alone cannot establish editability.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Native objects keep content reusable.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Bidirectional text must retain Unicode order.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Every claim needs a reproducible artifact.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4800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Rotation Atlas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CE92B826-AB0C-49B1-8C20-B4B853403C37}" type="slidenum">
              <a:rPr lang="en-US" dirty="0"/>
              <a:t>15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540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Baseline 0°</a:t>
            </a:r>
          </a:p>
        </p:txBody>
      </p:sp>
      <p:sp>
        <p:nvSpPr>
          <p:cNvPr id="8" name="Rounded Rectangle 7"/>
          <p:cNvSpPr/>
          <p:nvPr/>
        </p:nvSpPr>
        <p:spPr>
          <a:xfrm rot="2700000">
            <a:off x="2772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 rot="2700000">
            <a:off x="2951999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Diagonal 45°</a:t>
            </a:r>
          </a:p>
        </p:txBody>
      </p:sp>
      <p:sp>
        <p:nvSpPr>
          <p:cNvPr id="10" name="Rounded Rectangle 9"/>
          <p:cNvSpPr/>
          <p:nvPr/>
        </p:nvSpPr>
        <p:spPr>
          <a:xfrm rot="5400000">
            <a:off x="5004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 rot="5400000">
            <a:off x="5184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Vertical 90°</a:t>
            </a:r>
          </a:p>
        </p:txBody>
      </p:sp>
      <p:sp>
        <p:nvSpPr>
          <p:cNvPr id="12" name="Rounded Rectangle 11"/>
          <p:cNvSpPr/>
          <p:nvPr/>
        </p:nvSpPr>
        <p:spPr>
          <a:xfrm rot="8100000">
            <a:off x="7236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 rot="8100000">
            <a:off x="7416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Reverse 135°</a:t>
            </a:r>
          </a:p>
        </p:txBody>
      </p:sp>
      <p:sp>
        <p:nvSpPr>
          <p:cNvPr id="14" name="Rounded Rectangle 13"/>
          <p:cNvSpPr/>
          <p:nvPr/>
        </p:nvSpPr>
        <p:spPr>
          <a:xfrm rot="16200000">
            <a:off x="9468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 rot="16200000">
            <a:off x="9648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Vertical 270°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Beyond the Frame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B180FB02-06D3-4FB4-A305-A4BA93B96FAC}" type="slidenum">
              <a:rPr lang="en-US" dirty="0"/>
              <a:t>16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-1080000" y="-720000"/>
            <a:ext cx="3600000" cy="3600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92120" y="2160000"/>
            <a:ext cx="4320000" cy="2160000"/>
          </a:xfrm>
          <a:prstGeom prst="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80000" y="-360000"/>
            <a:ext cx="5760000" cy="1080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0" y="2520000"/>
            <a:ext cx="6480000" cy="72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rlito"/>
              </a:rPr>
              <a:t>INTENTIONAL BLEED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0000" y="3600000"/>
            <a:ext cx="72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Liberation Sans"/>
              </a:rPr>
              <a:t>Negative coordinates are part of the composition.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Nested Systems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8170FB6C-4A82-4DF8-AABB-EA4D19CB5518}" type="slidenum">
              <a:rPr lang="en-US" dirty="0"/>
              <a:t>17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136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6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8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A1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6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6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A2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0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0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2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B1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0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0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2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B2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4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4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6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C1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4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4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6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C2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INPUT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PROCESS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OUTPUT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Three Cities / 三つの都市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2818EB18-6B72-4ABA-8EF1-4AFA56D2183C}" type="slidenum">
              <a:rPr lang="en-US" dirty="0"/>
              <a:t>18</a:t>
            </a:fld>
          </a:p>
        </p:txBody>
      </p:sp>
      <p:pic>
        <p:nvPicPr>
          <p:cNvPr id="6" name="Picture 5" descr="cityscap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0000" y="1080000"/>
            <a:ext cx="3420000" cy="126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rlito"/>
              </a:rPr>
              <a:t>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Liberation Sans"/>
              </a:rPr>
              <a:t>Infrastructure becomes legible when structure and meaning stay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“Build for reuse.”</a:t>
            </a:r>
          </a:p>
        </p:txBody>
      </p:sp>
      <p:pic>
        <p:nvPicPr>
          <p:cNvPr id="10" name="Picture 9" descr="texture-pattern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84000" y="972000"/>
            <a:ext cx="3420000" cy="4896000"/>
          </a:xfrm>
          <a:prstGeom prst="rect">
            <a:avLst/>
          </a:prstGeom>
        </p:spPr>
      </p:pic>
      <p:pic>
        <p:nvPicPr>
          <p:cNvPr id="11" name="Picture 10" descr="texture-pattern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84000" y="1080000"/>
            <a:ext cx="3420000" cy="126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84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Noto Sans CJK JP"/>
              </a:rPr>
              <a:t>システム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4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Noto Sans CJK JP"/>
              </a:rPr>
              <a:t>生成されたスライドは構造と意味を保持します。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4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“意味を保つ。”</a:t>
            </a:r>
          </a:p>
        </p:txBody>
      </p:sp>
      <p:pic>
        <p:nvPicPr>
          <p:cNvPr id="15" name="Picture 14" descr="cityscap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028000" y="1080000"/>
            <a:ext cx="3420000" cy="126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028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rlito"/>
              </a:rPr>
              <a:t>Shared Futures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Liberation Sans"/>
              </a:rPr>
              <a:t>Editable artifacts let teams continue the work after generation.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“The artifact is the product.”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3840" y="206671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Design System Audit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1AB369A9-2442-48C2-BE09-9A418858998B}" type="slidenum">
              <a:rPr lang="en-US" dirty="0"/>
              <a:t>19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720000" y="11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rlito"/>
              </a:rPr>
              <a:t>Typography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60000" y="13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20000" y="20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Palette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60000" y="22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20000" y="2951999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Spacing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60000" y="3167999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20000" y="3851999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Line Weight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60000" y="4067999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20000" y="47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Navigation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60000" y="49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320000" y="5364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E8634A"/>
                </a:solidFill>
                <a:latin typeface="Liberation Sans"/>
              </a:rPr>
              <a:t>Return to Cover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0000" y="5364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2AACB8"/>
                </a:solidFill>
                <a:latin typeface="Liberation Sans"/>
              </a:rPr>
              <a:t>Meet the Team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AcidSlide Synthesis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9C830580-3F0A-4030-9DF1-10F8C512507F}" type="slidenum">
              <a:rPr lang="en-US" dirty="0"/>
              <a:t>20</a:t>
            </a:fld>
          </a:p>
        </p:txBody>
      </p:sp>
      <p:sp>
        <p:nvSpPr>
          <p:cNvPr id="6" name="TextBox 5"/>
          <p:cNvSpPr txBox="1"/>
          <p:nvPr/>
        </p:nvSpPr>
        <p:spPr>
          <a:xfrm>
            <a:off x="360000" y="972000"/>
            <a:ext cx="12852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L1</a:t>
            </a:r>
          </a:p>
        </p:txBody>
      </p:sp>
      <p:sp>
        <p:nvSpPr>
          <p:cNvPr id="7" name="Rectangle 6"/>
          <p:cNvSpPr/>
          <p:nvPr/>
        </p:nvSpPr>
        <p:spPr>
          <a:xfrm>
            <a:off x="1720799" y="1092000"/>
            <a:ext cx="1500309" cy="3360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37600" y="972000"/>
            <a:ext cx="3024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1572000"/>
            <a:ext cx="12852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L2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20799" y="1692000"/>
            <a:ext cx="1778938" cy="3360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37600" y="1572000"/>
            <a:ext cx="3024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2172000"/>
            <a:ext cx="12852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L3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20799" y="2292000"/>
            <a:ext cx="2079000" cy="3360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37600" y="2172000"/>
            <a:ext cx="3024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97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Tier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4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Slides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Checks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8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SSIM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0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Schema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2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Status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L1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4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70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8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0.9999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0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Pass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2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Ready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2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L3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4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20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280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8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0.9999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0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Pass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2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Ready</a:t>
            </a:r>
          </a:p>
        </p:txBody>
      </p:sp>
      <p:pic>
        <p:nvPicPr>
          <p:cNvPr id="33" name="Picture 32" descr="hero-abstract.png"/>
          <p:cNvPicPr>
            <a:picLocks noChangeAspect="1"/>
          </p:cNvPicPr>
          <p:nvPr/>
        </p:nvPicPr>
        <p:blipFill>
          <a:blip r:embed="rId2"/>
          <a:srcRect l="20000"/>
          <a:stretch>
            <a:fillRect/>
          </a:stretch>
        </p:blipFill>
        <p:spPr>
          <a:xfrm>
            <a:off x="9000000" y="972000"/>
            <a:ext cx="2700000" cy="18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60000" y="2951999"/>
            <a:ext cx="25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 rtl="1"/>
            <a:r>
              <a:rPr sz="1800" b="0" i="0">
                <a:solidFill>
                  <a:srgbClr val="FFFFFF"/>
                </a:solidFill>
                <a:latin typeface="Noto Sans Arabic"/>
              </a:rPr>
              <a:t>اختبار شامل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0000" y="2951999"/>
            <a:ext cx="25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Noto Sans CJK JP"/>
              </a:rPr>
              <a:t>総合テスト</a:t>
            </a:r>
          </a:p>
        </p:txBody>
      </p:sp>
      <p:sp>
        <p:nvSpPr>
          <p:cNvPr id="36" name="TextBox 35"/>
          <p:cNvSpPr txBox="1"/>
          <p:nvPr/>
        </p:nvSpPr>
        <p:spPr>
          <a:xfrm rot="2700000">
            <a:off x="6120000" y="306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ROTATED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80000" y="2880000"/>
            <a:ext cx="2160000" cy="1440000"/>
          </a:xfrm>
          <a:prstGeom prst="roundRect">
            <a:avLst/>
          </a:prstGeom>
          <a:solidFill>
            <a:srgbClr val="1B2A4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856000" y="3168000"/>
            <a:ext cx="2160000" cy="1440000"/>
          </a:xfrm>
          <a:prstGeom prst="roundRect">
            <a:avLst/>
          </a:prstGeom>
          <a:solidFill>
            <a:srgbClr val="E8634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432000" y="3456000"/>
            <a:ext cx="2160000" cy="1440000"/>
          </a:xfrm>
          <a:prstGeom prst="roundRect">
            <a:avLst/>
          </a:prstGeom>
          <a:solidFill>
            <a:srgbClr val="2AACB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4500000"/>
            <a:ext cx="5040000" cy="1368000"/>
          </a:xfrm>
          <a:prstGeom prst="rect">
            <a:avLst/>
          </a:prstGeom>
          <a:gradFill rotWithShape="1">
            <a:gsLst>
              <a:gs pos="0">
                <a:srgbClr val="1B2A4A"/>
              </a:gs>
              <a:gs pos="100000">
                <a:srgbClr val="2AACB8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0000" y="4680000"/>
            <a:ext cx="4320000" cy="93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Looks right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Built right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Reproduces from source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000" y="5040000"/>
            <a:ext cx="324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Liberation Sans"/>
              </a:rPr>
              <a:t>Current slide: </a:t>
            </a:r>
            <a:fld id="{5EBE16CA-8849-4021-A11B-53A790A79D24}" type="slidenum">
              <a:rPr lang="en-US" dirty="0"/>
              <a:t>20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Gloss comparative v1 — Visual precise — run 1</dc:title>
  <dc:subject>deterministic generation-path baseline seed 1103</dc:subject>
  <dc:creator>Gloss contributors</dc:creator>
  <cp:keywords>Gloss, AcidSlide, deterministic baseline, editable PowerPoint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