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latin typeface="Liberation Sans"/>
              </a:defRPr>
            </a:pPr>
            <a:r>
              <a:rPr b="0" sz="1300" spc="-1" strike="noStrike">
                <a:latin typeface="Liberation Sans"/>
              </a:rPr>
              <a:t>Annual Revenue by Region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2023 Revenue ($M)</c:v>
                </c:pt>
              </c:strCache>
            </c:strRef>
          </c:tx>
          <c:spPr>
            <a:solidFill>
              <a:srgbClr val="1b2a4a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2024 Revenue ($M)</c:v>
                </c:pt>
              </c:strCache>
            </c:strRef>
          </c:tx>
          <c:spPr>
            <a:solidFill>
              <a:srgbClr val="e8634a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gapWidth val="100"/>
        <c:overlap val="0"/>
        <c:axId val="56172588"/>
        <c:axId val="4440868"/>
      </c:barChart>
      <c:catAx>
        <c:axId val="5617258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4440868"/>
        <c:crosses val="autoZero"/>
        <c:auto val="1"/>
        <c:lblAlgn val="ctr"/>
        <c:lblOffset val="100"/>
        <c:noMultiLvlLbl val="0"/>
      </c:catAx>
      <c:valAx>
        <c:axId val="4440868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56172588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b"/>
      <c:overlay val="0"/>
      <c:spPr>
        <a:solidFill>
          <a:srgbClr val="d9d9d9"/>
        </a:solidFill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latin typeface="Liberation Sans"/>
            </a:defRPr>
          </a:pPr>
        </a:p>
      </c:txPr>
    </c:legend>
    <c:plotVisOnly val="0"/>
    <c:dispBlanksAs val="gap"/>
  </c:chart>
  <c:spPr>
    <a:solidFill>
      <a:srgbClr val="f5f3ee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1b2a4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8634a"/>
              </a:solidFill>
              <a:ln w="0">
                <a:noFill/>
              </a:ln>
            </c:spPr>
          </c:dPt>
          <c:dPt>
            <c:idx val="2"/>
            <c:spPr>
              <a:solidFill>
                <a:srgbClr val="2aacb8"/>
              </a:solidFill>
              <a:ln w="0">
                <a:noFill/>
              </a:ln>
            </c:spPr>
          </c:dPt>
          <c:dPt>
            <c:idx val="3"/>
            <c:spPr>
              <a:solidFill>
                <a:srgbClr val="d4a843"/>
              </a:solidFill>
              <a:ln w="0">
                <a:noFill/>
              </a:ln>
            </c:spPr>
          </c:dPt>
          <c:dPt>
            <c:idx val="4"/>
            <c:spPr>
              <a:solidFill>
                <a:srgbClr val="7b2d8e"/>
              </a:solidFill>
              <a:ln w="0">
                <a:noFill/>
              </a:ln>
            </c:spPr>
          </c:dPt>
          <c:dPt>
            <c:idx val="5"/>
            <c:spPr>
              <a:solidFill>
                <a:srgbClr val="3d9970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4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5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2d2d2d"/>
                    </a:solidFill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eparator> </c:separator>
            <c:showLeaderLines val="1"/>
          </c:dLbls>
          <c:cat>
            <c:strRef>
              <c:f>categories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firstSliceAng val="0"/>
      </c:pieChart>
      <c:spPr>
        <a:solidFill>
          <a:srgbClr val="d9d9d9"/>
        </a:solidFill>
        <a:ln w="0">
          <a:noFill/>
        </a:ln>
      </c:spPr>
    </c:plotArea>
    <c:plotVisOnly val="0"/>
  </c:chart>
  <c:spPr>
    <a:solidFill>
      <a:srgbClr val="f5f3ee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004586"/>
            </a:solidFill>
            <a:ln w="36000">
              <a:solidFill>
                <a:srgbClr val="004586"/>
              </a:solidFill>
              <a:round/>
            </a:ln>
          </c:spPr>
          <c:marker>
            <c:symbol val="square"/>
            <c:size val="8"/>
            <c:spPr>
              <a:solidFill>
                <a:srgbClr val="004586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ff420e"/>
            </a:solidFill>
            <a:ln w="360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ffd320"/>
            </a:solidFill>
            <a:ln w="360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1701696"/>
        <c:axId val="17146911"/>
      </c:lineChart>
      <c:catAx>
        <c:axId val="51701696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17146911"/>
        <c:crosses val="autoZero"/>
        <c:auto val="1"/>
        <c:lblAlgn val="ctr"/>
        <c:lblOffset val="100"/>
        <c:noMultiLvlLbl val="0"/>
      </c:catAx>
      <c:valAx>
        <c:axId val="17146911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51701696"/>
        <c:crosses val="autoZero"/>
        <c:crossBetween val="midCat"/>
      </c:valAx>
      <c:spPr>
        <a:solidFill>
          <a:srgbClr val="d9d9d9"/>
        </a:solidFill>
        <a:ln w="0">
          <a:noFill/>
        </a:ln>
      </c:spPr>
    </c:plotArea>
    <c:legend>
      <c:legendPos val="b"/>
      <c:overlay val="0"/>
      <c:spPr>
        <a:solidFill>
          <a:srgbClr val="d9d9d9"/>
        </a:solidFill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latin typeface="Liberation Sans"/>
            </a:defRPr>
          </a:pPr>
        </a:p>
      </c:txPr>
    </c:legend>
    <c:plotVisOnly val="0"/>
    <c:dispBlanksAs val="gap"/>
  </c:chart>
  <c:spPr>
    <a:solidFill>
      <a:srgbClr val="f5f3ee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742D3B-0FF8-4160-B481-8B2E09A04A8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Liberatio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8FA671-EF81-44F5-AFA0-2E77FB694FF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521955-676E-419B-9D9D-422F31813DB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97A386-6600-4DAD-9696-2A652539618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AC2C95-EFF2-47BF-BF06-E1CF950D67C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10DFF9-4568-41E1-B91E-3B7E092F8EE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F20551-13D2-4249-BDCF-B8C350A9E9B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CD617F-FB15-4FDE-98EF-F768CB2BE5B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6C0E02-0BA9-4815-9195-743E04817B4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3D01CC-2877-4698-8275-74140E86160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234A6E-0249-41AB-B8E9-24F5085528BC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D14E32-8600-4B16-BC62-6B327C3BEF8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Liberation Sans"/>
              </a:rPr>
              <a:t>Click to edit the title text format</a:t>
            </a:r>
            <a:endParaRPr b="0" lang="en-US" sz="4400" spc="-1" strike="noStrike">
              <a:latin typeface="Liberatio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3200" spc="-1" strike="noStrike">
                <a:latin typeface="Liberation Sans"/>
              </a:rPr>
              <a:t>Click to edit the outline text format</a:t>
            </a:r>
            <a:endParaRPr b="0" lang="en-US" sz="3200" spc="-1" strike="noStrike">
              <a:latin typeface="Liberation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Liberation Sans"/>
              <a:buChar char="•"/>
            </a:pPr>
            <a:r>
              <a:rPr b="0" lang="en-US" sz="2800" spc="-1" strike="noStrike">
                <a:latin typeface="Liberation Sans"/>
              </a:rPr>
              <a:t>Second Outline Level</a:t>
            </a:r>
            <a:endParaRPr b="0" lang="en-US" sz="2800" spc="-1" strike="noStrike">
              <a:latin typeface="Liberation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400" spc="-1" strike="noStrike">
                <a:latin typeface="Liberation Sans"/>
              </a:rPr>
              <a:t>Third Outline Level</a:t>
            </a:r>
            <a:endParaRPr b="0" lang="en-US" sz="2400" spc="-1" strike="noStrike">
              <a:latin typeface="Liberation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Fourth Outline Level</a:t>
            </a:r>
            <a:endParaRPr b="0" lang="en-US" sz="2000" spc="-1" strike="noStrike">
              <a:latin typeface="Liberation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Fifth Outline Level</a:t>
            </a:r>
            <a:endParaRPr b="0" lang="en-US" sz="2000" spc="-1" strike="noStrike">
              <a:latin typeface="Liberation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Sixth Outline Level</a:t>
            </a:r>
            <a:endParaRPr b="0" lang="en-US" sz="2000" spc="-1" strike="noStrike">
              <a:latin typeface="Liberation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Seventh Outline Level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" name="AcidSlide Master Background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f1923"/>
          </a:solidFill>
          <a:ln w="0">
            <a:noFill/>
          </a:ln>
        </p:spPr>
      </p:sp>
      <p:sp>
        <p:nvSpPr>
          <p:cNvPr id="3" name="AcidSlide Inherited Accent"/>
          <p:cNvSpPr/>
          <p:nvPr/>
        </p:nvSpPr>
        <p:spPr>
          <a:xfrm>
            <a:off x="0" y="0"/>
            <a:ext cx="39600" cy="6300000"/>
          </a:xfrm>
          <a:prstGeom prst="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4" name="AcidSlide Inherited Footer Rule"/>
          <p:cNvSpPr/>
          <p:nvPr/>
        </p:nvSpPr>
        <p:spPr>
          <a:xfrm>
            <a:off x="0" y="6300000"/>
            <a:ext cx="12192120" cy="0"/>
          </a:xfrm>
          <a:prstGeom prst="line">
            <a:avLst/>
          </a:prstGeom>
          <a:ln w="648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AcidSlide Inherited Brand"/>
          <p:cNvSpPr txBox="1"/>
          <p:nvPr/>
        </p:nvSpPr>
        <p:spPr>
          <a:xfrm>
            <a:off x="252000" y="6372000"/>
            <a:ext cx="1800000" cy="20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ACIDSLIDE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1"/>
          </p:nvPr>
        </p:nvSpPr>
        <p:spPr>
          <a:xfrm>
            <a:off x="4032000" y="6372000"/>
            <a:ext cx="41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800" spc="-1" strike="noStrike">
                <a:solidFill>
                  <a:srgbClr val="ffffff"/>
                </a:solidFill>
                <a:latin typeface="Liberation Sans"/>
                <a:ea typeface="Liberation Sans"/>
              </a:defRPr>
            </a:lvl1pPr>
          </a:lstStyle>
          <a:p>
            <a:pPr algn="ctr">
              <a:buNone/>
            </a:pPr>
            <a:r>
              <a:rPr b="0" lang="en-US" sz="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&lt;footer&gt;</a:t>
            </a:r>
            <a:endParaRPr b="0" lang="en-US" sz="800" spc="-1" strike="noStrike">
              <a:solidFill>
                <a:srgbClr val="ffffff"/>
              </a:solidFill>
              <a:latin typeface="Liberation Sans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2"/>
          </p:nvPr>
        </p:nvSpPr>
        <p:spPr>
          <a:xfrm>
            <a:off x="11340000" y="6354000"/>
            <a:ext cx="43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defRPr>
            </a:lvl1pPr>
          </a:lstStyle>
          <a:p>
            <a:pPr algn="r">
              <a:buNone/>
            </a:pPr>
            <a:fld id="{075B926B-77CE-4430-AB70-36A1BF38B828}" type="slidenum"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Liberatio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5.xml"/><Relationship Id="rId3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Liberation Sans"/>
            </a:endParaRPr>
          </a:p>
        </p:txBody>
      </p:sp>
      <p:sp>
        <p:nvSpPr>
          <p:cNvPr id="46" name="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 w="0">
            <a:noFill/>
          </a:ln>
        </p:spPr>
      </p:sp>
      <p:sp>
        <p:nvSpPr>
          <p:cNvPr id="47" name="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 w="0">
            <a:noFill/>
          </a:ln>
        </p:spPr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6120000" y="720000"/>
            <a:ext cx="5400000" cy="3060000"/>
          </a:xfrm>
          <a:prstGeom prst="rect">
            <a:avLst/>
          </a:prstGeom>
          <a:ln w="0">
            <a:noFill/>
          </a:ln>
          <a:effectLst>
            <a:outerShdw dist="129799" dir="3378595" blurRad="180000" rotWithShape="0">
              <a:srgbClr val="000000">
                <a:alpha val="40000"/>
              </a:srgbClr>
            </a:outerShdw>
          </a:effectLst>
        </p:spPr>
      </p:pic>
      <p:sp>
        <p:nvSpPr>
          <p:cNvPr id="49" name="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 w="0">
            <a:noFill/>
          </a:ln>
        </p:spPr>
      </p:sp>
      <p:sp>
        <p:nvSpPr>
          <p:cNvPr id="5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rlito"/>
                <a:ea typeface="Carlito"/>
              </a:rPr>
              <a:t>AcidSlide v1</a:t>
            </a:r>
            <a:endParaRPr b="0" lang="en-US" sz="4400" spc="-1" strike="noStrike">
              <a:latin typeface="Liberation San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8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400" spc="-1" strike="noStrike">
                <a:solidFill>
                  <a:srgbClr val="e8634a"/>
                </a:solidFill>
                <a:latin typeface="Carlito"/>
                <a:ea typeface="Carlito"/>
              </a:rPr>
              <a:t>Benchmark for Slide Generation Fidelity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7D9659-C609-4C1D-A30D-D16814A34C07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Agenda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1604520"/>
            <a:ext cx="109728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Opening Remarks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Welcome and introductions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Safety briefing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Technical Deep Dive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Architecture overview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Performance benchmarks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Security audit results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Breakout Sessions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Track A: Infrastructure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Track B: Applications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Closing &amp; Next Steps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56" name=""/>
          <p:cNvSpPr/>
          <p:nvPr/>
        </p:nvSpPr>
        <p:spPr>
          <a:xfrm>
            <a:off x="9936000" y="1260000"/>
            <a:ext cx="360000" cy="360000"/>
          </a:xfrm>
          <a:prstGeom prst="ellipse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57" name=""/>
          <p:cNvSpPr txBox="1"/>
          <p:nvPr/>
        </p:nvSpPr>
        <p:spPr>
          <a:xfrm>
            <a:off x="10440000" y="1260000"/>
            <a:ext cx="108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09:00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58" name=""/>
          <p:cNvSpPr/>
          <p:nvPr/>
        </p:nvSpPr>
        <p:spPr>
          <a:xfrm>
            <a:off x="9936000" y="2988000"/>
            <a:ext cx="360000" cy="360000"/>
          </a:xfrm>
          <a:prstGeom prst="ellipse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59" name=""/>
          <p:cNvSpPr txBox="1"/>
          <p:nvPr/>
        </p:nvSpPr>
        <p:spPr>
          <a:xfrm>
            <a:off x="10440000" y="2988000"/>
            <a:ext cx="108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11:30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60" name=""/>
          <p:cNvSpPr/>
          <p:nvPr/>
        </p:nvSpPr>
        <p:spPr>
          <a:xfrm>
            <a:off x="9936000" y="4716000"/>
            <a:ext cx="360000" cy="360000"/>
          </a:xfrm>
          <a:prstGeom prst="ellipse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61" name=""/>
          <p:cNvSpPr txBox="1"/>
          <p:nvPr/>
        </p:nvSpPr>
        <p:spPr>
          <a:xfrm>
            <a:off x="10440000" y="4716000"/>
            <a:ext cx="108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14:00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4C23A9-F1FA-463F-ABE5-79DA42A3887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540000" y="288000"/>
            <a:ext cx="576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Performance Metrics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63" name=""/>
          <p:cNvGraphicFramePr/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/>
              <a:tblGrid>
                <a:gridCol w="3240000"/>
                <a:gridCol w="1890000"/>
                <a:gridCol w="1890000"/>
                <a:gridCol w="1890000"/>
                <a:gridCol w="1890000"/>
              </a:tblGrid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Metric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Q1 2024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Q2 2024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Q3 2024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Target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Latency (p50)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12ms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11ms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≤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10ms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Latency (p99)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89ms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72ms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58ms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≤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75ms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Throughput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1,200 rps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1,450 rps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1,890 rps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e8634a"/>
                          </a:solidFill>
                          <a:latin typeface="Liberation Sans"/>
                          <a:ea typeface="Liberation Sans"/>
                        </a:rPr>
                        <a:t>≥</a:t>
                      </a:r>
                      <a:r>
                        <a:rPr b="0" lang="en-US" sz="1400" spc="-1" strike="noStrike">
                          <a:solidFill>
                            <a:srgbClr val="e8634a"/>
                          </a:solidFill>
                          <a:latin typeface="Liberation Sans"/>
                          <a:ea typeface="Liberation Sans"/>
                        </a:rPr>
                        <a:t>2,000 rps</a:t>
                      </a:r>
                      <a:endParaRPr b="0" lang="en-US" sz="1400" spc="-1" strike="noStrike">
                        <a:solidFill>
                          <a:srgbClr val="e8634a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Error Rate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0.12%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0.08%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0.04%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≤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0.05%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Uptime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99.91%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99.95%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99.98%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≥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99.95%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Cache Hit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72%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78%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84%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≥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80%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64" name=""/>
          <p:cNvSpPr/>
          <p:nvPr/>
        </p:nvSpPr>
        <p:spPr>
          <a:xfrm>
            <a:off x="8640000" y="5508000"/>
            <a:ext cx="2880000" cy="792000"/>
          </a:xfrm>
          <a:prstGeom prst="round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65" name=""/>
          <p:cNvSpPr txBox="1"/>
          <p:nvPr/>
        </p:nvSpPr>
        <p:spPr>
          <a:xfrm>
            <a:off x="8712000" y="5544000"/>
            <a:ext cx="273600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Throughput target</a:t>
            </a:r>
            <a:endParaRPr b="0" lang="en-US" sz="1200" spc="-1" strike="noStrike">
              <a:latin typeface="Liberation Sans"/>
            </a:endParaRPr>
          </a:p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missed by 5.5%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D4655D-53AD-465F-B39E-341CC3D8628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Revenue Growth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69" name=""/>
          <p:cNvGraphicFramePr/>
          <p:nvPr/>
        </p:nvGraphicFramePr>
        <p:xfrm>
          <a:off x="540000" y="1080000"/>
          <a:ext cx="720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0" name=""/>
          <p:cNvSpPr txBox="1"/>
          <p:nvPr/>
        </p:nvSpPr>
        <p:spPr>
          <a:xfrm>
            <a:off x="8280000" y="1368000"/>
            <a:ext cx="324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Key Takeaways: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71" name="Synthesis Native Bullet List"/>
          <p:cNvSpPr txBox="1"/>
          <p:nvPr/>
        </p:nvSpPr>
        <p:spPr>
          <a:xfrm>
            <a:off x="8280000" y="1728000"/>
            <a:ext cx="3240000" cy="15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144000">
              <a:buClr>
                <a:srgbClr val="0f1923"/>
              </a:buClr>
              <a:buFont typeface="Liberation Sans"/>
              <a:buChar char="▸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Total revenue up 38.2% YoY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0f1923"/>
              </a:buClr>
              <a:buFont typeface="Liberation Sans"/>
              <a:buChar char="▸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APAC fastest-growing region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0f1923"/>
              </a:buClr>
              <a:buFont typeface="Liberation Sans"/>
              <a:buChar char="▸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All regions exceeded targets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402400" y="1774800"/>
            <a:ext cx="2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►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402400" y="1956600"/>
            <a:ext cx="2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►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402400" y="2138400"/>
            <a:ext cx="2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►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220000" y="3312000"/>
            <a:ext cx="1800000" cy="648000"/>
          </a:xfrm>
          <a:prstGeom prst="rect">
            <a:avLst/>
          </a:prstGeom>
          <a:solidFill>
            <a:srgbClr val="2aacb8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+62.9% YoY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220000" y="4752000"/>
            <a:ext cx="1800000" cy="64800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+84.6% YoY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40B803-63F8-4899-867F-5AAB476A2F5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Our Team</a:t>
            </a:r>
            <a:endParaRPr b="0" lang="en-US" sz="3600" spc="-1" strike="noStrike">
              <a:latin typeface="Liberation Sans"/>
            </a:endParaRPr>
          </a:p>
        </p:txBody>
      </p:sp>
      <p:grpSp>
        <p:nvGrpSpPr>
          <p:cNvPr id="80" name="Sarah Chen Team Card"/>
          <p:cNvGrpSpPr/>
          <p:nvPr/>
        </p:nvGrpSpPr>
        <p:grpSpPr>
          <a:xfrm>
            <a:off x="540000" y="1188000"/>
            <a:ext cx="3240000" cy="4680000"/>
            <a:chOff x="540000" y="1188000"/>
            <a:chExt cx="3240000" cy="4680000"/>
          </a:xfrm>
        </p:grpSpPr>
        <p:sp>
          <p:nvSpPr>
            <p:cNvPr id="81" name=""/>
            <p:cNvSpPr/>
            <p:nvPr/>
          </p:nvSpPr>
          <p:spPr>
            <a:xfrm>
              <a:off x="540000" y="1188000"/>
              <a:ext cx="3240000" cy="4680000"/>
            </a:xfrm>
            <a:prstGeom prst="roundRect">
              <a:avLst/>
            </a:prstGeom>
            <a:solidFill>
              <a:srgbClr val="161f2e"/>
            </a:solidFill>
            <a:ln w="12600">
              <a:solidFill>
                <a:srgbClr val="2aacb8"/>
              </a:solidFill>
              <a:round/>
            </a:ln>
          </p:spPr>
        </p:sp>
        <p:sp>
          <p:nvSpPr>
            <p:cNvPr id="82" name=""/>
            <p:cNvSpPr/>
            <p:nvPr/>
          </p:nvSpPr>
          <p:spPr>
            <a:xfrm>
              <a:off x="1440000" y="1512000"/>
              <a:ext cx="1440000" cy="1440000"/>
            </a:xfrm>
            <a:prstGeom prst="ellipse">
              <a:avLst/>
            </a:prstGeom>
            <a:solidFill>
              <a:srgbClr val="1b2a4a"/>
            </a:solidFill>
            <a:ln w="0">
              <a:noFill/>
            </a:ln>
          </p:spPr>
        </p:sp>
        <p:sp>
          <p:nvSpPr>
            <p:cNvPr id="83" name=""/>
            <p:cNvSpPr txBox="1"/>
            <p:nvPr/>
          </p:nvSpPr>
          <p:spPr>
            <a:xfrm>
              <a:off x="1440000" y="1872000"/>
              <a:ext cx="1440000" cy="432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Photo</a:t>
              </a:r>
              <a:endParaRPr b="0" lang="en-US" sz="1200" spc="-1" strike="noStrike">
                <a:latin typeface="Liberation Sans"/>
              </a:endParaRPr>
            </a:p>
          </p:txBody>
        </p:sp>
        <p:sp>
          <p:nvSpPr>
            <p:cNvPr id="84" name=""/>
            <p:cNvSpPr txBox="1"/>
            <p:nvPr/>
          </p:nvSpPr>
          <p:spPr>
            <a:xfrm>
              <a:off x="720000" y="3240000"/>
              <a:ext cx="2880000" cy="36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800" spc="-1" strike="noStrike">
                  <a:solidFill>
                    <a:srgbClr val="ffffff"/>
                  </a:solidFill>
                  <a:latin typeface="Carlito"/>
                  <a:ea typeface="Carlito"/>
                </a:rPr>
                <a:t>Sarah Chen</a:t>
              </a:r>
              <a:endParaRPr b="0" lang="en-US" sz="1800" spc="-1" strike="noStrike">
                <a:latin typeface="Liberation Sans"/>
              </a:endParaRPr>
            </a:p>
          </p:txBody>
        </p:sp>
        <p:sp>
          <p:nvSpPr>
            <p:cNvPr id="85" name=""/>
            <p:cNvSpPr txBox="1"/>
            <p:nvPr/>
          </p:nvSpPr>
          <p:spPr>
            <a:xfrm>
              <a:off x="720000" y="3672000"/>
              <a:ext cx="2880000" cy="324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400" spc="-1" strike="noStrike">
                  <a:solidFill>
                    <a:srgbClr val="e8634a"/>
                  </a:solidFill>
                  <a:latin typeface="Liberation Sans"/>
                  <a:ea typeface="Liberation Sans"/>
                </a:rPr>
                <a:t>Chief Architect</a:t>
              </a:r>
              <a:endParaRPr b="0" lang="en-US" sz="1400" spc="-1" strike="noStrike">
                <a:latin typeface="Liberation Sans"/>
              </a:endParaRPr>
            </a:p>
          </p:txBody>
        </p:sp>
        <p:sp>
          <p:nvSpPr>
            <p:cNvPr id="86" name=""/>
            <p:cNvSpPr txBox="1"/>
            <p:nvPr/>
          </p:nvSpPr>
          <p:spPr>
            <a:xfrm>
              <a:off x="864000" y="4176000"/>
              <a:ext cx="2592000" cy="9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15 years building distributed systems at scale</a:t>
              </a:r>
              <a:endParaRPr b="0" lang="en-US" sz="1200" spc="-1" strike="noStrike">
                <a:latin typeface="Liberation Sans"/>
              </a:endParaRPr>
            </a:p>
          </p:txBody>
        </p:sp>
      </p:grpSp>
      <p:grpSp>
        <p:nvGrpSpPr>
          <p:cNvPr id="87" name="Marcus Rivera Team Card"/>
          <p:cNvGrpSpPr/>
          <p:nvPr/>
        </p:nvGrpSpPr>
        <p:grpSpPr>
          <a:xfrm>
            <a:off x="4320000" y="1188000"/>
            <a:ext cx="3240000" cy="4680000"/>
            <a:chOff x="4320000" y="1188000"/>
            <a:chExt cx="3240000" cy="4680000"/>
          </a:xfrm>
        </p:grpSpPr>
        <p:sp>
          <p:nvSpPr>
            <p:cNvPr id="88" name=""/>
            <p:cNvSpPr/>
            <p:nvPr/>
          </p:nvSpPr>
          <p:spPr>
            <a:xfrm>
              <a:off x="4320000" y="1188000"/>
              <a:ext cx="3240000" cy="4680000"/>
            </a:xfrm>
            <a:prstGeom prst="roundRect">
              <a:avLst/>
            </a:prstGeom>
            <a:solidFill>
              <a:srgbClr val="161f2e"/>
            </a:solidFill>
            <a:ln w="12600">
              <a:solidFill>
                <a:srgbClr val="2aacb8"/>
              </a:solidFill>
              <a:round/>
            </a:ln>
          </p:spPr>
        </p:sp>
        <p:sp>
          <p:nvSpPr>
            <p:cNvPr id="89" name=""/>
            <p:cNvSpPr/>
            <p:nvPr/>
          </p:nvSpPr>
          <p:spPr>
            <a:xfrm>
              <a:off x="5220000" y="1512000"/>
              <a:ext cx="1440000" cy="1440000"/>
            </a:xfrm>
            <a:prstGeom prst="ellipse">
              <a:avLst/>
            </a:prstGeom>
            <a:solidFill>
              <a:srgbClr val="1b2a4a"/>
            </a:solidFill>
            <a:ln w="0">
              <a:noFill/>
            </a:ln>
          </p:spPr>
        </p:sp>
        <p:sp>
          <p:nvSpPr>
            <p:cNvPr id="90" name=""/>
            <p:cNvSpPr txBox="1"/>
            <p:nvPr/>
          </p:nvSpPr>
          <p:spPr>
            <a:xfrm>
              <a:off x="5220000" y="1872000"/>
              <a:ext cx="1440000" cy="432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Photo</a:t>
              </a:r>
              <a:endParaRPr b="0" lang="en-US" sz="1200" spc="-1" strike="noStrike">
                <a:latin typeface="Liberation Sans"/>
              </a:endParaRPr>
            </a:p>
          </p:txBody>
        </p:sp>
        <p:sp>
          <p:nvSpPr>
            <p:cNvPr id="91" name=""/>
            <p:cNvSpPr txBox="1"/>
            <p:nvPr/>
          </p:nvSpPr>
          <p:spPr>
            <a:xfrm>
              <a:off x="4500000" y="3240000"/>
              <a:ext cx="2880000" cy="36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800" spc="-1" strike="noStrike">
                  <a:solidFill>
                    <a:srgbClr val="ffffff"/>
                  </a:solidFill>
                  <a:latin typeface="Carlito"/>
                  <a:ea typeface="Carlito"/>
                </a:rPr>
                <a:t>Marcus Rivera</a:t>
              </a:r>
              <a:endParaRPr b="0" lang="en-US" sz="1800" spc="-1" strike="noStrike">
                <a:latin typeface="Liberation Sans"/>
              </a:endParaRPr>
            </a:p>
          </p:txBody>
        </p:sp>
        <p:sp>
          <p:nvSpPr>
            <p:cNvPr id="92" name=""/>
            <p:cNvSpPr txBox="1"/>
            <p:nvPr/>
          </p:nvSpPr>
          <p:spPr>
            <a:xfrm>
              <a:off x="4500000" y="3672000"/>
              <a:ext cx="2880000" cy="324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400" spc="-1" strike="noStrike">
                  <a:solidFill>
                    <a:srgbClr val="e8634a"/>
                  </a:solidFill>
                  <a:latin typeface="Liberation Sans"/>
                  <a:ea typeface="Liberation Sans"/>
                </a:rPr>
                <a:t>Head of Design</a:t>
              </a:r>
              <a:endParaRPr b="0" lang="en-US" sz="1400" spc="-1" strike="noStrike">
                <a:latin typeface="Liberation Sans"/>
              </a:endParaRPr>
            </a:p>
          </p:txBody>
        </p:sp>
        <p:sp>
          <p:nvSpPr>
            <p:cNvPr id="93" name=""/>
            <p:cNvSpPr txBox="1"/>
            <p:nvPr/>
          </p:nvSpPr>
          <p:spPr>
            <a:xfrm>
              <a:off x="4644000" y="4176000"/>
              <a:ext cx="2592000" cy="9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Formerly at Apple, obsessed with pixel-perfect interfaces</a:t>
              </a:r>
              <a:endParaRPr b="0" lang="en-US" sz="1200" spc="-1" strike="noStrike">
                <a:latin typeface="Liberation Sans"/>
              </a:endParaRPr>
            </a:p>
          </p:txBody>
        </p:sp>
      </p:grpSp>
      <p:grpSp>
        <p:nvGrpSpPr>
          <p:cNvPr id="94" name="Yuki Tanaka Team Card"/>
          <p:cNvGrpSpPr/>
          <p:nvPr/>
        </p:nvGrpSpPr>
        <p:grpSpPr>
          <a:xfrm>
            <a:off x="8100000" y="1188000"/>
            <a:ext cx="3240000" cy="4680000"/>
            <a:chOff x="8100000" y="1188000"/>
            <a:chExt cx="3240000" cy="4680000"/>
          </a:xfrm>
        </p:grpSpPr>
        <p:sp>
          <p:nvSpPr>
            <p:cNvPr id="95" name=""/>
            <p:cNvSpPr/>
            <p:nvPr/>
          </p:nvSpPr>
          <p:spPr>
            <a:xfrm>
              <a:off x="8100000" y="1188000"/>
              <a:ext cx="3240000" cy="4680000"/>
            </a:xfrm>
            <a:prstGeom prst="roundRect">
              <a:avLst/>
            </a:prstGeom>
            <a:solidFill>
              <a:srgbClr val="161f2e"/>
            </a:solidFill>
            <a:ln w="12600">
              <a:solidFill>
                <a:srgbClr val="2aacb8"/>
              </a:solidFill>
              <a:round/>
            </a:ln>
          </p:spPr>
        </p:sp>
        <p:sp>
          <p:nvSpPr>
            <p:cNvPr id="96" name=""/>
            <p:cNvSpPr/>
            <p:nvPr/>
          </p:nvSpPr>
          <p:spPr>
            <a:xfrm>
              <a:off x="9000000" y="1512000"/>
              <a:ext cx="1440000" cy="1440000"/>
            </a:xfrm>
            <a:prstGeom prst="ellipse">
              <a:avLst/>
            </a:prstGeom>
            <a:solidFill>
              <a:srgbClr val="1b2a4a"/>
            </a:solidFill>
            <a:ln w="0">
              <a:noFill/>
            </a:ln>
          </p:spPr>
        </p:sp>
        <p:sp>
          <p:nvSpPr>
            <p:cNvPr id="97" name=""/>
            <p:cNvSpPr txBox="1"/>
            <p:nvPr/>
          </p:nvSpPr>
          <p:spPr>
            <a:xfrm>
              <a:off x="9000000" y="1872000"/>
              <a:ext cx="1440000" cy="432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Photo</a:t>
              </a:r>
              <a:endParaRPr b="0" lang="en-US" sz="1200" spc="-1" strike="noStrike">
                <a:latin typeface="Liberation Sans"/>
              </a:endParaRPr>
            </a:p>
          </p:txBody>
        </p:sp>
        <p:sp>
          <p:nvSpPr>
            <p:cNvPr id="98" name=""/>
            <p:cNvSpPr txBox="1"/>
            <p:nvPr/>
          </p:nvSpPr>
          <p:spPr>
            <a:xfrm>
              <a:off x="8280000" y="3240000"/>
              <a:ext cx="2880000" cy="36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800" spc="-1" strike="noStrike">
                  <a:solidFill>
                    <a:srgbClr val="ffffff"/>
                  </a:solidFill>
                  <a:latin typeface="Carlito"/>
                  <a:ea typeface="Carlito"/>
                </a:rPr>
                <a:t>Yuki Tanaka</a:t>
              </a:r>
              <a:endParaRPr b="0" lang="en-US" sz="1800" spc="-1" strike="noStrike">
                <a:latin typeface="Liberation Sans"/>
              </a:endParaRPr>
            </a:p>
          </p:txBody>
        </p:sp>
        <p:sp>
          <p:nvSpPr>
            <p:cNvPr id="99" name=""/>
            <p:cNvSpPr txBox="1"/>
            <p:nvPr/>
          </p:nvSpPr>
          <p:spPr>
            <a:xfrm>
              <a:off x="8280000" y="3672000"/>
              <a:ext cx="2880000" cy="324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400" spc="-1" strike="noStrike">
                  <a:solidFill>
                    <a:srgbClr val="e8634a"/>
                  </a:solidFill>
                  <a:latin typeface="Liberation Sans"/>
                  <a:ea typeface="Liberation Sans"/>
                </a:rPr>
                <a:t>ML Engineering Lead</a:t>
              </a:r>
              <a:endParaRPr b="0" lang="en-US" sz="1400" spc="-1" strike="noStrike">
                <a:latin typeface="Liberation Sans"/>
              </a:endParaRPr>
            </a:p>
          </p:txBody>
        </p:sp>
        <p:sp>
          <p:nvSpPr>
            <p:cNvPr id="100" name=""/>
            <p:cNvSpPr txBox="1"/>
            <p:nvPr/>
          </p:nvSpPr>
          <p:spPr>
            <a:xfrm>
              <a:off x="8424000" y="4176000"/>
              <a:ext cx="2592000" cy="9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PhD in NLP, built the model serving infrastructure</a:t>
              </a:r>
              <a:endParaRPr b="0" lang="en-US" sz="1200" spc="-1" strike="noStrike">
                <a:latin typeface="Liberation Sans"/>
              </a:endParaRPr>
            </a:p>
          </p:txBody>
        </p:sp>
      </p:grp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AF886E-D354-48AE-9F2E-2989D17218F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432000" y="648000"/>
            <a:ext cx="342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Carlito"/>
                <a:ea typeface="Carlito"/>
              </a:rPr>
              <a:t>Global Perspectives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32000" y="1188000"/>
            <a:ext cx="3240000" cy="30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The rapid advancement of language models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has transformed how organizations approach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document generation. From financial reports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to marketing materials, AI-driven content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creation is reshaping every industry.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20000" y="648000"/>
            <a:ext cx="3420000" cy="73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1" lang="hi-IN" sz="2400" spc="-1" strike="noStrike">
                <a:solidFill>
                  <a:srgbClr val="ffffff"/>
                </a:solidFill>
                <a:latin typeface="Noto Sans Arabic"/>
                <a:cs typeface="Noto Sans Arabic"/>
              </a:rPr>
              <a:t>وجهات نظر عالمية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320000" y="1188000"/>
            <a:ext cx="3240000" cy="31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لقد أدى التقدم السريع في نماذج اللغة إلى تحويل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كيفية تعامل المؤسسات مع إنشاء المستندات. من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التقارير المالية إلى المواد التسويقية، يعيد إنشاء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المحتوى المدعوم بالذكاء الاصطناعي تشكيل كل صناعة.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280000" y="648000"/>
            <a:ext cx="342000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h-CN" sz="2400" spc="-1" strike="noStrike">
                <a:solidFill>
                  <a:srgbClr val="ffffff"/>
                </a:solidFill>
                <a:latin typeface="Noto Sans CJK JP"/>
                <a:ea typeface="Noto Sans CJK JP"/>
              </a:rPr>
              <a:t>グローバルな視点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280000" y="1188000"/>
            <a:ext cx="3420000" cy="30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言語モデルの急速な進歩により、組織がドキュメント生成に</a:t>
            </a:r>
            <a:endParaRPr b="0" lang="en-US" sz="1400" spc="-1" strike="noStrike">
              <a:latin typeface="Liberation Sans"/>
            </a:endParaRPr>
          </a:p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取り組む方法が変革されました。財務報告からマーケティング</a:t>
            </a:r>
            <a:endParaRPr b="0" lang="en-US" sz="1400" spc="-1" strike="noStrike">
              <a:latin typeface="Liberation Sans"/>
            </a:endParaRPr>
          </a:p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資料まで、</a:t>
            </a:r>
            <a:r>
              <a:rPr b="0" lang="en-US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AI</a:t>
            </a:r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主導のコンテンツ作成はあらゆる産業を</a:t>
            </a:r>
            <a:endParaRPr b="0" lang="en-US" sz="1400" spc="-1" strike="noStrike">
              <a:latin typeface="Liberation Sans"/>
            </a:endParaRPr>
          </a:p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再形成しています。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07" name=""/>
          <p:cNvSpPr/>
          <p:nvPr/>
        </p:nvSpPr>
        <p:spPr>
          <a:xfrm>
            <a:off x="4032000" y="1080000"/>
            <a:ext cx="0" cy="4680000"/>
          </a:xfrm>
          <a:prstGeom prst="line">
            <a:avLst/>
          </a:prstGeom>
          <a:ln w="12600">
            <a:solidFill>
              <a:srgbClr val="2aacb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8100000" y="1080000"/>
            <a:ext cx="0" cy="4680000"/>
          </a:xfrm>
          <a:prstGeom prst="line">
            <a:avLst/>
          </a:prstGeom>
          <a:ln w="12600">
            <a:solidFill>
              <a:srgbClr val="2aacb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 w="0">
            <a:noFill/>
          </a:ln>
        </p:spPr>
      </p:sp>
      <p:sp>
        <p:nvSpPr>
          <p:cNvPr id="110" name=""/>
          <p:cNvSpPr txBox="1"/>
          <p:nvPr/>
        </p:nvSpPr>
        <p:spPr>
          <a:xfrm>
            <a:off x="5544000" y="4824000"/>
            <a:ext cx="403200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AI-generated slides must handle RTL text,</a:t>
            </a:r>
            <a:endParaRPr b="0" lang="en-US" sz="1300" spc="-1" strike="noStrike">
              <a:latin typeface="Liberation Sans"/>
            </a:endParaRPr>
          </a:p>
          <a:p>
            <a:pPr algn="ctr"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CJK line breaking, and mixed scripts correctly.</a:t>
            </a:r>
            <a:endParaRPr b="0" lang="en-US" sz="1300" spc="-1" strike="noStrike">
              <a:latin typeface="Liberation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4FA8CF-B8D5-45D1-A477-61DFF09ABF5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Image Handling</a:t>
            </a:r>
            <a:endParaRPr b="0" lang="en-US" sz="3600" spc="-1" strike="noStrike">
              <a:latin typeface="Liberation Sans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rcRect l="0" t="3543" r="0" b="2362"/>
          <a:stretch/>
        </p:blipFill>
        <p:spPr>
          <a:xfrm>
            <a:off x="540000" y="900000"/>
            <a:ext cx="3600000" cy="28800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680000" y="900000"/>
            <a:ext cx="2880000" cy="2880000"/>
          </a:xfrm>
          <a:prstGeom prst="ellipse">
            <a:avLst/>
          </a:prstGeom>
          <a:blipFill rotWithShape="0">
            <a:blip r:embed="rId2"/>
            <a:stretch/>
          </a:blipFill>
          <a:ln w="0">
            <a:noFill/>
          </a:ln>
        </p:spPr>
      </p:sp>
      <p:sp>
        <p:nvSpPr>
          <p:cNvPr id="114" name=""/>
          <p:cNvSpPr/>
          <p:nvPr/>
        </p:nvSpPr>
        <p:spPr>
          <a:xfrm>
            <a:off x="8100000" y="900000"/>
            <a:ext cx="3600000" cy="2880000"/>
          </a:xfrm>
          <a:prstGeom prst="roundRect">
            <a:avLst/>
          </a:prstGeom>
          <a:blipFill rotWithShape="0">
            <a:blip r:embed="rId3"/>
            <a:stretch/>
          </a:blipFill>
          <a:ln w="0">
            <a:noFill/>
          </a:ln>
        </p:spPr>
      </p:sp>
      <p:sp>
        <p:nvSpPr>
          <p:cNvPr id="115" name=""/>
          <p:cNvSpPr txBox="1"/>
          <p:nvPr/>
        </p:nvSpPr>
        <p:spPr>
          <a:xfrm>
            <a:off x="540000" y="3888000"/>
            <a:ext cx="36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Full panorama crop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680000" y="3888000"/>
            <a:ext cx="28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Circle-masked detail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100000" y="3888000"/>
            <a:ext cx="36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Rounded corner crop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18" name=""/>
          <p:cNvSpPr/>
          <p:nvPr/>
        </p:nvSpPr>
        <p:spPr>
          <a:xfrm>
            <a:off x="5040000" y="1260000"/>
            <a:ext cx="2160000" cy="2160000"/>
          </a:xfrm>
          <a:prstGeom prst="rect">
            <a:avLst/>
          </a:prstGeom>
          <a:solidFill>
            <a:srgbClr val="1b2a4a">
              <a:alpha val="50000"/>
            </a:srgbClr>
          </a:solidFill>
          <a:ln w="0">
            <a:noFill/>
          </a:ln>
        </p:spPr>
      </p:sp>
      <p:sp>
        <p:nvSpPr>
          <p:cNvPr id="119" name=""/>
          <p:cNvSpPr txBox="1"/>
          <p:nvPr/>
        </p:nvSpPr>
        <p:spPr>
          <a:xfrm>
            <a:off x="5148000" y="2016000"/>
            <a:ext cx="194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rlito"/>
                <a:ea typeface="Carlito"/>
              </a:rPr>
              <a:t>PREVIEW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FCD51B-2B0D-4BC0-8B46-33D8E0FEF77F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0" y="5400000"/>
            <a:ext cx="12192120" cy="1080000"/>
          </a:xfrm>
          <a:prstGeom prst="rect">
            <a:avLst/>
          </a:prstGeom>
          <a:gradFill rotWithShape="0">
            <a:gsLst>
              <a:gs pos="0">
                <a:srgbClr val="0f1923"/>
              </a:gs>
              <a:gs pos="100000">
                <a:srgbClr val="2aacb8"/>
              </a:gs>
            </a:gsLst>
            <a:lin ang="0"/>
          </a:gradFill>
          <a:ln w="0">
            <a:noFill/>
          </a:ln>
        </p:spPr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Depth &amp; Layering</a:t>
            </a:r>
            <a:endParaRPr b="0" lang="en-US" sz="3600" spc="-1" strike="noStrike">
              <a:latin typeface="Liberation Sans"/>
            </a:endParaRPr>
          </a:p>
        </p:txBody>
      </p:sp>
      <p:grpSp>
        <p:nvGrpSpPr>
          <p:cNvPr id="122" name=""/>
          <p:cNvGrpSpPr/>
          <p:nvPr/>
        </p:nvGrpSpPr>
        <p:grpSpPr>
          <a:xfrm>
            <a:off x="1440000" y="1800000"/>
            <a:ext cx="5400000" cy="3240000"/>
            <a:chOff x="1440000" y="1800000"/>
            <a:chExt cx="5400000" cy="3240000"/>
          </a:xfrm>
        </p:grpSpPr>
        <p:sp>
          <p:nvSpPr>
            <p:cNvPr id="123" name=""/>
            <p:cNvSpPr/>
            <p:nvPr/>
          </p:nvSpPr>
          <p:spPr>
            <a:xfrm>
              <a:off x="1440000" y="2160000"/>
              <a:ext cx="4320000" cy="2880000"/>
            </a:xfrm>
            <a:prstGeom prst="roundRect">
              <a:avLst/>
            </a:prstGeom>
            <a:solidFill>
              <a:srgbClr val="1b2a4a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Layer 1</a:t>
              </a:r>
              <a:endParaRPr b="0" lang="en-US" sz="2000" spc="-1" strike="noStrike">
                <a:latin typeface="Liberation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2520000" y="1800000"/>
              <a:ext cx="4320000" cy="2880000"/>
            </a:xfrm>
            <a:prstGeom prst="roundRect">
              <a:avLst/>
            </a:prstGeom>
            <a:solidFill>
              <a:srgbClr val="2aacb8">
                <a:alpha val="85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Layer 2</a:t>
              </a:r>
              <a:endParaRPr b="0" lang="en-US" sz="2000" spc="-1" strike="noStrike">
                <a:latin typeface="Liberation Sans"/>
              </a:endParaRPr>
            </a:p>
          </p:txBody>
        </p:sp>
      </p:grpSp>
      <p:grpSp>
        <p:nvGrpSpPr>
          <p:cNvPr id="125" name=""/>
          <p:cNvGrpSpPr/>
          <p:nvPr/>
        </p:nvGrpSpPr>
        <p:grpSpPr>
          <a:xfrm>
            <a:off x="3600000" y="720000"/>
            <a:ext cx="6480000" cy="3600000"/>
            <a:chOff x="3600000" y="720000"/>
            <a:chExt cx="6480000" cy="3600000"/>
          </a:xfrm>
        </p:grpSpPr>
        <p:sp>
          <p:nvSpPr>
            <p:cNvPr id="126" name=""/>
            <p:cNvSpPr/>
            <p:nvPr/>
          </p:nvSpPr>
          <p:spPr>
            <a:xfrm>
              <a:off x="3600000" y="1440000"/>
              <a:ext cx="4320000" cy="2880000"/>
            </a:xfrm>
            <a:prstGeom prst="roundRect">
              <a:avLst/>
            </a:prstGeom>
            <a:solidFill>
              <a:srgbClr val="e8634a">
                <a:alpha val="70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Layer 3</a:t>
              </a:r>
              <a:endParaRPr b="0" lang="en-US" sz="2000" spc="-1" strike="noStrike">
                <a:latin typeface="Liberation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4680000" y="1080000"/>
              <a:ext cx="4320000" cy="2880000"/>
            </a:xfrm>
            <a:prstGeom prst="roundRect">
              <a:avLst/>
            </a:prstGeom>
            <a:solidFill>
              <a:srgbClr val="d4a843">
                <a:alpha val="55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1b2a4a"/>
                  </a:solidFill>
                  <a:latin typeface="Liberation Sans"/>
                  <a:ea typeface="Liberation Sans"/>
                </a:rPr>
                <a:t>Layer 4</a:t>
              </a:r>
              <a:endParaRPr b="0" lang="en-US" sz="2000" spc="-1" strike="noStrike">
                <a:latin typeface="Liberation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5760000" y="720000"/>
              <a:ext cx="4320000" cy="2880000"/>
            </a:xfrm>
            <a:prstGeom prst="roundRect">
              <a:avLst/>
            </a:prstGeom>
            <a:solidFill>
              <a:srgbClr val="ffffff">
                <a:alpha val="90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1b2a4a"/>
                  </a:solidFill>
                  <a:latin typeface="Liberation Sans"/>
                  <a:ea typeface="Liberation Sans"/>
                </a:rPr>
                <a:t>Layer 5</a:t>
              </a:r>
              <a:endParaRPr b="0" lang="en-US" sz="2000" spc="-1" strike="noStrike">
                <a:latin typeface="Liberation Sans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DE3A06-0127-4D4D-ABE2-7120C58B7B63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API Reference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48000" y="1008000"/>
            <a:ext cx="504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1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Fixed Size (clips)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480000" y="1008000"/>
            <a:ext cx="504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1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Auto-Shrink (fits)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48000" y="1260000"/>
            <a:ext cx="504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GET /api/v1/submissions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Authorization: Bearer YOUR_TOKEN_HERE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Content-Type: application/json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Query Parameters: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model_id    string  required  Filter by model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tier        integer optional  1, 2, or 3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status      string  optional  queued|grading|completed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limit       integer optional  Default: 20, max: 100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offset      integer optional  Default: 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Response 200: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"submissions": [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"id": "sub_abc123",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"model_id": "gpt-4o",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"tier": 3,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"status": "completed",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"fidelity_score": 0.847,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"created_at": "2025-01-15T10:30:00Z"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],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"total": 142,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"has_more": true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NOTE TO DESIGNER: The parentheses above represent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 in the actual slide text. When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typing this content into the slide, use standard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braces, i.e., the opening and closing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brace characters. They are written as parentheses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here only because this brief avoids those characters.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480000" y="1260000"/>
            <a:ext cx="504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000"/>
          </a:bodyPr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GET /api/v1/submissions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Authorization: Bearer YOUR_TOKEN_HERE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Content-Type: application/json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Query Parameters: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model_id    string  required  Filter by model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tier        integer optional  1, 2, or 3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status      string  optional  queued|grading|completed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limit       integer optional  Default: 20, max: 100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offset      integer optional  Default: 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Response 200: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"submissions": [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"id": "sub_abc123",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"model_id": "gpt-4o",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"tier": 3,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"status": "completed",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"fidelity_score": 0.847,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"created_at": "2025-01-15T10:30:00Z"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],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"total": 142,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"has_more": true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NOTE TO DESIGNER: The parentheses above represent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 in the actual slide text. When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typing this content into the slide, use standard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braces, i.e., the opening and closing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brace characters. They are written as parentheses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here only because this brief avoids those characters.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Error Responses: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401 Unauthorized - Invalid or expired token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403 Forbidden - Rate limit exceeded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404 Not Found - Submission not found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422 Unprocessable - Invalid parameters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500 Internal Server Error - Contact support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Rate Limits: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Free tier: 10 req/min, 100 req/hour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Pro tier:  60 req/min, 1000 req/hour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Enterprise: Custom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F54727-D62D-4C26-AF09-0C46E1CF43D1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System Architecture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37" name=""/>
          <p:cNvSpPr/>
          <p:nvPr/>
        </p:nvSpPr>
        <p:spPr>
          <a:xfrm>
            <a:off x="720000" y="1080000"/>
            <a:ext cx="1800000" cy="1080000"/>
          </a:xfrm>
          <a:prstGeom prst="roundRect">
            <a:avLst/>
          </a:prstGeom>
          <a:solidFill>
            <a:srgbClr val="2aacb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Client App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38" name=""/>
          <p:cNvSpPr/>
          <p:nvPr/>
        </p:nvSpPr>
        <p:spPr>
          <a:xfrm>
            <a:off x="5040000" y="1080000"/>
            <a:ext cx="1800000" cy="1080000"/>
          </a:xfrm>
          <a:prstGeom prst="roundRect">
            <a:avLst/>
          </a:prstGeom>
          <a:solidFill>
            <a:srgbClr val="1b2a4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API Gateway</a:t>
            </a:r>
            <a:endParaRPr b="0" lang="en-US" sz="1200" spc="-1" strike="noStrike">
              <a:latin typeface="Liberation Sans"/>
            </a:endParaRPr>
          </a:p>
        </p:txBody>
      </p:sp>
      <p:grpSp>
        <p:nvGrpSpPr>
          <p:cNvPr id="139" name=""/>
          <p:cNvGrpSpPr/>
          <p:nvPr/>
        </p:nvGrpSpPr>
        <p:grpSpPr>
          <a:xfrm>
            <a:off x="2160000" y="3240000"/>
            <a:ext cx="7560000" cy="3060000"/>
            <a:chOff x="2160000" y="3240000"/>
            <a:chExt cx="7560000" cy="3060000"/>
          </a:xfrm>
        </p:grpSpPr>
        <p:grpSp>
          <p:nvGrpSpPr>
            <p:cNvPr id="140" name=""/>
            <p:cNvGrpSpPr/>
            <p:nvPr/>
          </p:nvGrpSpPr>
          <p:grpSpPr>
            <a:xfrm>
              <a:off x="3600000" y="3240000"/>
              <a:ext cx="4680000" cy="1080000"/>
              <a:chOff x="3600000" y="3240000"/>
              <a:chExt cx="4680000" cy="1080000"/>
            </a:xfrm>
          </p:grpSpPr>
          <p:sp>
            <p:nvSpPr>
              <p:cNvPr id="141" name=""/>
              <p:cNvSpPr/>
              <p:nvPr/>
            </p:nvSpPr>
            <p:spPr>
              <a:xfrm>
                <a:off x="3600000" y="3240000"/>
                <a:ext cx="1800000" cy="1080000"/>
              </a:xfrm>
              <a:prstGeom prst="roundRect">
                <a:avLst/>
              </a:prstGeom>
              <a:solidFill>
                <a:srgbClr val="e863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Auth Service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5040000" y="3240000"/>
                <a:ext cx="1800000" cy="1080000"/>
              </a:xfrm>
              <a:prstGeom prst="roundRect">
                <a:avLst/>
              </a:prstGeom>
              <a:solidFill>
                <a:srgbClr val="d4a843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Job Queue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6480000" y="3240000"/>
                <a:ext cx="1800000" cy="1080000"/>
              </a:xfrm>
              <a:prstGeom prst="roundRect">
                <a:avLst/>
              </a:prstGeom>
              <a:solidFill>
                <a:srgbClr val="e863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Grader</a:t>
                </a:r>
                <a:endParaRPr b="0" lang="en-US" sz="1200" spc="-1" strike="noStrike">
                  <a:latin typeface="Liberation Sans"/>
                </a:endParaRPr>
              </a:p>
            </p:txBody>
          </p:sp>
        </p:grpSp>
        <p:grpSp>
          <p:nvGrpSpPr>
            <p:cNvPr id="144" name=""/>
            <p:cNvGrpSpPr/>
            <p:nvPr/>
          </p:nvGrpSpPr>
          <p:grpSpPr>
            <a:xfrm>
              <a:off x="2160000" y="5220000"/>
              <a:ext cx="7560000" cy="1080000"/>
              <a:chOff x="2160000" y="5220000"/>
              <a:chExt cx="7560000" cy="1080000"/>
            </a:xfrm>
          </p:grpSpPr>
          <p:sp>
            <p:nvSpPr>
              <p:cNvPr id="145" name=""/>
              <p:cNvSpPr/>
              <p:nvPr/>
            </p:nvSpPr>
            <p:spPr>
              <a:xfrm>
                <a:off x="2160000" y="5220000"/>
                <a:ext cx="1800000" cy="1080000"/>
              </a:xfrm>
              <a:prstGeom prst="roundRect">
                <a:avLst/>
              </a:prstGeom>
              <a:solidFill>
                <a:srgbClr val="1b2a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PostgreSQL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5040000" y="5220000"/>
                <a:ext cx="1800000" cy="1080000"/>
              </a:xfrm>
              <a:prstGeom prst="roundRect">
                <a:avLst/>
              </a:prstGeom>
              <a:solidFill>
                <a:srgbClr val="1b2a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Object Store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7920000" y="5220000"/>
                <a:ext cx="1800000" cy="1080000"/>
              </a:xfrm>
              <a:prstGeom prst="roundRect">
                <a:avLst/>
              </a:prstGeom>
              <a:solidFill>
                <a:srgbClr val="2aacb8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Leaderboard</a:t>
                </a:r>
                <a:endParaRPr b="0" lang="en-US" sz="1200" spc="-1" strike="noStrike">
                  <a:latin typeface="Liberation Sans"/>
                </a:endParaRPr>
              </a:p>
            </p:txBody>
          </p:sp>
        </p:grpSp>
      </p:grpSp>
      <p:cxnSp>
        <p:nvCxnSpPr>
          <p:cNvPr id="148" name=""/>
          <p:cNvCxnSpPr>
            <a:stCxn id="137" idx="3"/>
            <a:endCxn id="138" idx="1"/>
          </p:cNvCxnSpPr>
          <p:nvPr/>
        </p:nvCxnSpPr>
        <p:spPr>
          <a:xfrm>
            <a:off x="2520000" y="1620000"/>
            <a:ext cx="252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49" name=""/>
          <p:cNvCxnSpPr>
            <a:stCxn id="138" idx="2"/>
            <a:endCxn id="141" idx="0"/>
          </p:cNvCxnSpPr>
          <p:nvPr/>
        </p:nvCxnSpPr>
        <p:spPr>
          <a:xfrm flipH="1">
            <a:off x="4500000" y="2160000"/>
            <a:ext cx="1440360" cy="1080360"/>
          </a:xfrm>
          <a:prstGeom prst="bentConnector3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0" name=""/>
          <p:cNvCxnSpPr>
            <a:stCxn id="138" idx="2"/>
            <a:endCxn id="142" idx="0"/>
          </p:cNvCxnSpPr>
          <p:nvPr/>
        </p:nvCxnSpPr>
        <p:spPr>
          <a:xfrm>
            <a:off x="5940000" y="2160000"/>
            <a:ext cx="360" cy="1080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1" name=""/>
          <p:cNvCxnSpPr>
            <a:stCxn id="142" idx="3"/>
            <a:endCxn id="143" idx="1"/>
          </p:cNvCxnSpPr>
          <p:nvPr/>
        </p:nvCxnSpPr>
        <p:spPr>
          <a:xfrm flipH="1">
            <a:off x="6480000" y="3780000"/>
            <a:ext cx="36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2" name=""/>
          <p:cNvCxnSpPr>
            <a:stCxn id="143" idx="2"/>
            <a:endCxn id="146" idx="3"/>
          </p:cNvCxnSpPr>
          <p:nvPr/>
        </p:nvCxnSpPr>
        <p:spPr>
          <a:xfrm flipH="1">
            <a:off x="6840000" y="4320000"/>
            <a:ext cx="540360" cy="1440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3" name=""/>
          <p:cNvCxnSpPr>
            <a:stCxn id="146" idx="1"/>
            <a:endCxn id="145" idx="3"/>
          </p:cNvCxnSpPr>
          <p:nvPr/>
        </p:nvCxnSpPr>
        <p:spPr>
          <a:xfrm flipH="1">
            <a:off x="3960000" y="5760000"/>
            <a:ext cx="108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4" name=""/>
          <p:cNvCxnSpPr>
            <a:stCxn id="146" idx="3"/>
            <a:endCxn id="147" idx="1"/>
          </p:cNvCxnSpPr>
          <p:nvPr/>
        </p:nvCxnSpPr>
        <p:spPr>
          <a:xfrm>
            <a:off x="6840000" y="5760000"/>
            <a:ext cx="108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sp>
        <p:nvSpPr>
          <p:cNvPr id="155" name=""/>
          <p:cNvSpPr txBox="1"/>
          <p:nvPr/>
        </p:nvSpPr>
        <p:spPr>
          <a:xfrm>
            <a:off x="3060000" y="1296000"/>
            <a:ext cx="79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HTTPS</a:t>
            </a:r>
            <a:endParaRPr b="0" lang="en-US" sz="1000" spc="-1" strike="noStrike">
              <a:latin typeface="Liberation Sans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780000" y="23400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JWT verify</a:t>
            </a:r>
            <a:endParaRPr b="0" lang="en-US" sz="1000" spc="-1" strike="noStrike">
              <a:latin typeface="Liberation Sans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400000" y="2340000"/>
            <a:ext cx="79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Enqueue</a:t>
            </a:r>
            <a:endParaRPr b="0" lang="en-US" sz="1000" spc="-1" strike="noStrike">
              <a:latin typeface="Liberation Sans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960000" y="2808000"/>
            <a:ext cx="39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Processing Layer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600000" y="4824000"/>
            <a:ext cx="46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Persistence Layer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3FEDFF-C836-46BD-9896-AF94892893F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Brand Colors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63" name=""/>
          <p:cNvSpPr/>
          <p:nvPr/>
        </p:nvSpPr>
        <p:spPr>
          <a:xfrm>
            <a:off x="1080000" y="1188000"/>
            <a:ext cx="1440000" cy="1440000"/>
          </a:xfrm>
          <a:prstGeom prst="round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164" name=""/>
          <p:cNvSpPr txBox="1"/>
          <p:nvPr/>
        </p:nvSpPr>
        <p:spPr>
          <a:xfrm>
            <a:off x="1080000" y="2700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Primary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65" name=""/>
          <p:cNvSpPr/>
          <p:nvPr/>
        </p:nvSpPr>
        <p:spPr>
          <a:xfrm>
            <a:off x="4320000" y="1188000"/>
            <a:ext cx="1440000" cy="1440000"/>
          </a:xfrm>
          <a:prstGeom prst="round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166" name=""/>
          <p:cNvSpPr txBox="1"/>
          <p:nvPr/>
        </p:nvSpPr>
        <p:spPr>
          <a:xfrm>
            <a:off x="4320000" y="2700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Secondary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67" name=""/>
          <p:cNvSpPr/>
          <p:nvPr/>
        </p:nvSpPr>
        <p:spPr>
          <a:xfrm>
            <a:off x="7560000" y="1188000"/>
            <a:ext cx="1440000" cy="1440000"/>
          </a:xfrm>
          <a:prstGeom prst="round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168" name=""/>
          <p:cNvSpPr txBox="1"/>
          <p:nvPr/>
        </p:nvSpPr>
        <p:spPr>
          <a:xfrm>
            <a:off x="7560000" y="2700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Accent 1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69" name=""/>
          <p:cNvSpPr/>
          <p:nvPr/>
        </p:nvSpPr>
        <p:spPr>
          <a:xfrm>
            <a:off x="1080000" y="3420000"/>
            <a:ext cx="1440000" cy="1440000"/>
          </a:xfrm>
          <a:prstGeom prst="roundRect">
            <a:avLst/>
          </a:prstGeom>
          <a:solidFill>
            <a:srgbClr val="ff6b35"/>
          </a:solidFill>
          <a:ln w="0">
            <a:noFill/>
          </a:ln>
        </p:spPr>
      </p:sp>
      <p:sp>
        <p:nvSpPr>
          <p:cNvPr id="170" name=""/>
          <p:cNvSpPr txBox="1"/>
          <p:nvPr/>
        </p:nvSpPr>
        <p:spPr>
          <a:xfrm>
            <a:off x="1080000" y="4932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f6b35"/>
                </a:solidFill>
                <a:latin typeface="Liberation Sans"/>
                <a:ea typeface="Liberation Sans"/>
              </a:rPr>
              <a:t>Override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71" name=""/>
          <p:cNvSpPr/>
          <p:nvPr/>
        </p:nvSpPr>
        <p:spPr>
          <a:xfrm>
            <a:off x="4320000" y="3420000"/>
            <a:ext cx="1440000" cy="1440000"/>
          </a:xfrm>
          <a:prstGeom prst="roundRect">
            <a:avLst/>
          </a:prstGeom>
          <a:solidFill>
            <a:srgbClr val="7b2d8e"/>
          </a:solidFill>
          <a:ln w="0">
            <a:noFill/>
          </a:ln>
        </p:spPr>
      </p:sp>
      <p:sp>
        <p:nvSpPr>
          <p:cNvPr id="172" name=""/>
          <p:cNvSpPr txBox="1"/>
          <p:nvPr/>
        </p:nvSpPr>
        <p:spPr>
          <a:xfrm>
            <a:off x="4320000" y="4932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7b2d8e"/>
                </a:solidFill>
                <a:latin typeface="Liberation Sans"/>
                <a:ea typeface="Liberation Sans"/>
              </a:rPr>
              <a:t>Override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73" name=""/>
          <p:cNvSpPr/>
          <p:nvPr/>
        </p:nvSpPr>
        <p:spPr>
          <a:xfrm>
            <a:off x="7560000" y="3420000"/>
            <a:ext cx="1440000" cy="1440000"/>
          </a:xfrm>
          <a:prstGeom prst="roundRect">
            <a:avLst/>
          </a:prstGeom>
          <a:solidFill>
            <a:srgbClr val="3d9970"/>
          </a:solidFill>
          <a:ln w="0">
            <a:noFill/>
          </a:ln>
        </p:spPr>
      </p:sp>
      <p:sp>
        <p:nvSpPr>
          <p:cNvPr id="174" name=""/>
          <p:cNvSpPr txBox="1"/>
          <p:nvPr/>
        </p:nvSpPr>
        <p:spPr>
          <a:xfrm>
            <a:off x="7560000" y="4932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3d9970"/>
                </a:solidFill>
                <a:latin typeface="Liberation Sans"/>
                <a:ea typeface="Liberation Sans"/>
              </a:rPr>
              <a:t>Override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20000" y="5508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3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Top row uses theme color references. Bottom row uses explicit RGB values.</a:t>
            </a:r>
            <a:endParaRPr b="0" lang="en-US" sz="1300" spc="-1" strike="noStrike">
              <a:latin typeface="Liberation Sans"/>
            </a:endParaRPr>
          </a:p>
          <a:p>
            <a:pPr algn="ctr">
              <a:buNone/>
            </a:pPr>
            <a:r>
              <a:rPr b="0" lang="en-US" sz="13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Changing the theme will update the top row but not the bottom row.</a:t>
            </a:r>
            <a:endParaRPr b="0" lang="en-US" sz="13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202A9F-9C8B-4675-BB9A-39733C6AFFA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Document Fields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900000" y="1368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Current slide: </a:t>
            </a:r>
            <a:fld id="{E1DFF84B-B76F-4565-964C-13CA1222002C}" type="slidenum"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&lt;number&gt;</a:t>
            </a:fld>
            <a:endParaRPr b="0" lang="en-US" sz="1800" spc="-1" strike="noStrike">
              <a:latin typeface="Liberation Sans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120000" y="1368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← </a:t>
            </a:r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Live slide number field (not static text)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00000" y="2592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Generated: </a:t>
            </a:r>
            <a:fld id="{62A821E2-F624-4BA7-805C-C6B93B79EDCB}" type="datetime"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1/3/-1</a:t>
            </a:fld>
            <a:endParaRPr b="0" lang="en-US" sz="1800" spc="-1" strike="noStrike">
              <a:latin typeface="Liberation Sans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120000" y="2592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← </a:t>
            </a:r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Fixed date/time field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00000" y="3816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AcidSlide Benchmark v1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120000" y="3816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← </a:t>
            </a:r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Footer from master placeholder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00000" y="5040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Slide 12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120000" y="5040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Static text comparison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CCAC06-92E2-429B-834E-F9398194C544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Composite Stress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188" name=""/>
          <p:cNvGraphicFramePr/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9" name=""/>
          <p:cNvGraphicFramePr/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/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Check</a:t>
                      </a:r>
                      <a:endParaRPr b="0" lang="en-US" sz="13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Status</a:t>
                      </a:r>
                      <a:endParaRPr b="0" lang="en-US" sz="13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Weight</a:t>
                      </a:r>
                      <a:endParaRPr b="0" lang="en-US" sz="13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Schema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3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Rendering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2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Assets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Review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190" name="" descr=""/>
          <p:cNvPicPr/>
          <p:nvPr/>
        </p:nvPicPr>
        <p:blipFill>
          <a:blip r:embed="rId2"/>
          <a:srcRect l="2362" t="0" r="0" b="0"/>
          <a:stretch/>
        </p:blipFill>
        <p:spPr>
          <a:xfrm>
            <a:off x="8280000" y="1080000"/>
            <a:ext cx="2880000" cy="2160000"/>
          </a:xfrm>
          <a:prstGeom prst="rect">
            <a:avLst/>
          </a:prstGeom>
          <a:ln w="0">
            <a:noFill/>
          </a:ln>
        </p:spPr>
      </p:pic>
      <p:sp>
        <p:nvSpPr>
          <p:cNvPr id="191" name=""/>
          <p:cNvSpPr txBox="1"/>
          <p:nvPr/>
        </p:nvSpPr>
        <p:spPr>
          <a:xfrm>
            <a:off x="4500000" y="3960000"/>
            <a:ext cx="6840000" cy="4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الهيكل والمحتوى والعرض في اختبار واحد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92" name=""/>
          <p:cNvSpPr/>
          <p:nvPr/>
        </p:nvSpPr>
        <p:spPr>
          <a:xfrm>
            <a:off x="900000" y="4500000"/>
            <a:ext cx="2520000" cy="648000"/>
          </a:xfrm>
          <a:prstGeom prst="round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193" name=""/>
          <p:cNvSpPr txBox="1"/>
          <p:nvPr/>
        </p:nvSpPr>
        <p:spPr>
          <a:xfrm>
            <a:off x="972000" y="4608000"/>
            <a:ext cx="2376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NATIVE CHART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94" name=""/>
          <p:cNvSpPr/>
          <p:nvPr/>
        </p:nvSpPr>
        <p:spPr>
          <a:xfrm>
            <a:off x="4680000" y="4500000"/>
            <a:ext cx="2520000" cy="648000"/>
          </a:xfrm>
          <a:prstGeom prst="round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195" name=""/>
          <p:cNvSpPr txBox="1"/>
          <p:nvPr/>
        </p:nvSpPr>
        <p:spPr>
          <a:xfrm>
            <a:off x="4752000" y="4608000"/>
            <a:ext cx="2376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NATIVE TABLE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96" name=""/>
          <p:cNvSpPr/>
          <p:nvPr/>
        </p:nvSpPr>
        <p:spPr>
          <a:xfrm>
            <a:off x="8460000" y="4500000"/>
            <a:ext cx="2700000" cy="648000"/>
          </a:xfrm>
          <a:prstGeom prst="roundRect">
            <a:avLst/>
          </a:prstGeom>
          <a:solidFill>
            <a:srgbClr val="d4a843"/>
          </a:solidFill>
          <a:ln w="0">
            <a:noFill/>
          </a:ln>
        </p:spPr>
      </p:sp>
      <p:sp>
        <p:nvSpPr>
          <p:cNvPr id="197" name=""/>
          <p:cNvSpPr txBox="1"/>
          <p:nvPr/>
        </p:nvSpPr>
        <p:spPr>
          <a:xfrm>
            <a:off x="8532000" y="4608000"/>
            <a:ext cx="2556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1b2a4a"/>
                </a:solidFill>
                <a:latin typeface="Liberation Sans"/>
                <a:ea typeface="Liberation Sans"/>
              </a:rPr>
              <a:t>APPROVED ASSET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98" name=""/>
          <p:cNvSpPr/>
          <p:nvPr/>
        </p:nvSpPr>
        <p:spPr>
          <a:xfrm flipV="1">
            <a:off x="2160000" y="3960000"/>
            <a:ext cx="0" cy="540000"/>
          </a:xfrm>
          <a:prstGeom prst="line">
            <a:avLst/>
          </a:prstGeom>
          <a:ln w="1260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"/>
          <p:cNvSpPr/>
          <p:nvPr/>
        </p:nvSpPr>
        <p:spPr>
          <a:xfrm flipV="1">
            <a:off x="5940000" y="3600000"/>
            <a:ext cx="0" cy="900000"/>
          </a:xfrm>
          <a:prstGeom prst="line">
            <a:avLst/>
          </a:prstGeom>
          <a:ln w="12600">
            <a:solidFill>
              <a:srgbClr val="e86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"/>
          <p:cNvSpPr/>
          <p:nvPr/>
        </p:nvSpPr>
        <p:spPr>
          <a:xfrm flipV="1">
            <a:off x="9720000" y="3240000"/>
            <a:ext cx="0" cy="1260000"/>
          </a:xfrm>
          <a:prstGeom prst="line">
            <a:avLst/>
          </a:prstGeom>
          <a:ln w="12600">
            <a:solidFill>
              <a:srgbClr val="d4a8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4C4DF1-386D-4D09-8668-807D8D80020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RTL Systems Review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05" name=""/>
          <p:cNvSpPr/>
          <p:nvPr/>
        </p:nvSpPr>
        <p:spPr>
          <a:xfrm>
            <a:off x="6084000" y="1080000"/>
            <a:ext cx="0" cy="4500000"/>
          </a:xfrm>
          <a:prstGeom prst="line">
            <a:avLst/>
          </a:prstGeom>
          <a:ln w="1260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"/>
          <p:cNvSpPr txBox="1"/>
          <p:nvPr/>
        </p:nvSpPr>
        <p:spPr>
          <a:xfrm>
            <a:off x="540000" y="1152000"/>
            <a:ext cx="504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مراجعة الأنظمة الموزعة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دقة العرض هي أساس المقارنة بين الأنظمة.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سلامة البنية تحافظ على المعنى والتفاعل.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The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 الذكاء الاصطناعي 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revolution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 تتطلب نصاً ثنائي الاتجاه.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الإصدار 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AcidSlide v1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 يختبر التوافق.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يجب الحفاظ على علامات الترقيم وترتيب 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Unicode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660000" y="1152000"/>
            <a:ext cx="486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 structural benchmark must preserve meaning and direction.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Rendering alone cannot prove native editability.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Bidirectional runs must retain their Unicode order.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Mirrored padding makes the comparison deliberate.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The benchmark records both artifact and visual fidelity.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5E3958-0E7D-497A-9BE7-E1CD9D5165B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Rotation Atlas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09" name=""/>
          <p:cNvSpPr/>
          <p:nvPr/>
        </p:nvSpPr>
        <p:spPr>
          <a:xfrm>
            <a:off x="540000" y="2880000"/>
            <a:ext cx="10980000" cy="0"/>
          </a:xfrm>
          <a:prstGeom prst="line">
            <a:avLst/>
          </a:prstGeom>
          <a:ln w="6480">
            <a:solidFill>
              <a:srgbClr val="2aacb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"/>
          <p:cNvSpPr/>
          <p:nvPr/>
        </p:nvSpPr>
        <p:spPr>
          <a:xfrm>
            <a:off x="360000" y="2520000"/>
            <a:ext cx="2160000" cy="720000"/>
          </a:xfrm>
          <a:prstGeom prst="roundRect">
            <a:avLst/>
          </a:prstGeom>
          <a:solidFill>
            <a:srgbClr val="1b2a4a">
              <a:alpha val="70000"/>
            </a:srgbClr>
          </a:solidFill>
          <a:ln w="0">
            <a:noFill/>
          </a:ln>
        </p:spPr>
      </p:sp>
      <p:sp>
        <p:nvSpPr>
          <p:cNvPr id="211" name=""/>
          <p:cNvSpPr txBox="1"/>
          <p:nvPr/>
        </p:nvSpPr>
        <p:spPr>
          <a:xfrm>
            <a:off x="540000" y="261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Baseline 0°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2" name=""/>
          <p:cNvSpPr/>
          <p:nvPr/>
        </p:nvSpPr>
        <p:spPr>
          <a:xfrm rot="18900000">
            <a:off x="2520000" y="2519640"/>
            <a:ext cx="2160000" cy="720000"/>
          </a:xfrm>
          <a:prstGeom prst="roundRect">
            <a:avLst/>
          </a:prstGeom>
          <a:solidFill>
            <a:srgbClr val="2aacb8">
              <a:alpha val="70000"/>
            </a:srgbClr>
          </a:solidFill>
          <a:ln w="0">
            <a:noFill/>
          </a:ln>
        </p:spPr>
      </p:sp>
      <p:sp>
        <p:nvSpPr>
          <p:cNvPr id="213" name=""/>
          <p:cNvSpPr txBox="1"/>
          <p:nvPr/>
        </p:nvSpPr>
        <p:spPr>
          <a:xfrm rot="18900000">
            <a:off x="2700000" y="260964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Diagonal 45°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4" name=""/>
          <p:cNvSpPr/>
          <p:nvPr/>
        </p:nvSpPr>
        <p:spPr>
          <a:xfrm rot="16200000">
            <a:off x="4680000" y="2520000"/>
            <a:ext cx="2160000" cy="720000"/>
          </a:xfrm>
          <a:prstGeom prst="roundRect">
            <a:avLst/>
          </a:prstGeom>
          <a:solidFill>
            <a:srgbClr val="e8634a">
              <a:alpha val="70000"/>
            </a:srgbClr>
          </a:solidFill>
          <a:ln w="0">
            <a:noFill/>
          </a:ln>
        </p:spPr>
      </p:sp>
      <p:sp>
        <p:nvSpPr>
          <p:cNvPr id="215" name=""/>
          <p:cNvSpPr txBox="1"/>
          <p:nvPr/>
        </p:nvSpPr>
        <p:spPr>
          <a:xfrm rot="16200000">
            <a:off x="4860000" y="261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Vertical 90°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6" name=""/>
          <p:cNvSpPr/>
          <p:nvPr/>
        </p:nvSpPr>
        <p:spPr>
          <a:xfrm rot="13500000">
            <a:off x="6839640" y="2519640"/>
            <a:ext cx="2160000" cy="720000"/>
          </a:xfrm>
          <a:prstGeom prst="roundRect">
            <a:avLst/>
          </a:prstGeom>
          <a:solidFill>
            <a:srgbClr val="d4a843">
              <a:alpha val="70000"/>
            </a:srgbClr>
          </a:solidFill>
          <a:ln w="0">
            <a:noFill/>
          </a:ln>
        </p:spPr>
      </p:sp>
      <p:sp>
        <p:nvSpPr>
          <p:cNvPr id="217" name=""/>
          <p:cNvSpPr txBox="1"/>
          <p:nvPr/>
        </p:nvSpPr>
        <p:spPr>
          <a:xfrm rot="13500000">
            <a:off x="7019640" y="260964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Reverse 135°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8" name=""/>
          <p:cNvSpPr/>
          <p:nvPr/>
        </p:nvSpPr>
        <p:spPr>
          <a:xfrm rot="5400000">
            <a:off x="9000000" y="2520000"/>
            <a:ext cx="2160000" cy="720000"/>
          </a:xfrm>
          <a:prstGeom prst="roundRect">
            <a:avLst/>
          </a:prstGeom>
          <a:solidFill>
            <a:srgbClr val="1b2a4a">
              <a:alpha val="70000"/>
            </a:srgbClr>
          </a:solidFill>
          <a:ln w="0">
            <a:noFill/>
          </a:ln>
        </p:spPr>
      </p:sp>
      <p:sp>
        <p:nvSpPr>
          <p:cNvPr id="219" name=""/>
          <p:cNvSpPr txBox="1"/>
          <p:nvPr/>
        </p:nvSpPr>
        <p:spPr>
          <a:xfrm rot="5400000">
            <a:off x="9180000" y="261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Vertical 270°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2833C3-ECB5-444B-B899-C5C9A1694D5A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Intentional Negative Circle"/>
          <p:cNvSpPr/>
          <p:nvPr/>
        </p:nvSpPr>
        <p:spPr>
          <a:xfrm>
            <a:off x="-1080000" y="-720000"/>
            <a:ext cx="3600000" cy="3600000"/>
          </a:xfrm>
          <a:prstGeom prst="ellipse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221" name="Intentional Right Bleed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222" name="Intentional Top Bleed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Beyond the Frame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3240000" y="2340000"/>
            <a:ext cx="540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000" spc="-1" strike="noStrike">
                <a:solidFill>
                  <a:srgbClr val="ffffff"/>
                </a:solidFill>
                <a:latin typeface="Carlito"/>
                <a:ea typeface="Carlito"/>
              </a:rPr>
              <a:t>INTENTIONAL BLEED</a:t>
            </a:r>
            <a:endParaRPr b="0" lang="en-US" sz="3000" spc="-1" strike="noStrike">
              <a:latin typeface="Liberation Sans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2700000" y="3240000"/>
            <a:ext cx="6480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Negative coordinates are part of the composition.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16B0CE-B416-4091-919E-0A64CDD214C2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Nested Systems</a:t>
            </a:r>
            <a:endParaRPr b="0" lang="en-US" sz="3600" spc="-1" strike="noStrike">
              <a:latin typeface="Liberation Sans"/>
            </a:endParaRPr>
          </a:p>
        </p:txBody>
      </p:sp>
      <p:grpSp>
        <p:nvGrpSpPr>
          <p:cNvPr id="227" name="Nested Systems Outer Group"/>
          <p:cNvGrpSpPr/>
          <p:nvPr/>
        </p:nvGrpSpPr>
        <p:grpSpPr>
          <a:xfrm>
            <a:off x="1080000" y="1080000"/>
            <a:ext cx="9720000" cy="4680000"/>
            <a:chOff x="1080000" y="1080000"/>
            <a:chExt cx="9720000" cy="4680000"/>
          </a:xfrm>
        </p:grpSpPr>
        <p:grpSp>
          <p:nvGrpSpPr>
            <p:cNvPr id="228" name="INPUT Middle Group"/>
            <p:cNvGrpSpPr/>
            <p:nvPr/>
          </p:nvGrpSpPr>
          <p:grpSpPr>
            <a:xfrm>
              <a:off x="1080000" y="1080000"/>
              <a:ext cx="2362320" cy="4680000"/>
              <a:chOff x="1080000" y="1080000"/>
              <a:chExt cx="2362320" cy="4680000"/>
            </a:xfrm>
          </p:grpSpPr>
          <p:grpSp>
            <p:nvGrpSpPr>
              <p:cNvPr id="229" name="A1 Inner Group"/>
              <p:cNvGrpSpPr/>
              <p:nvPr/>
            </p:nvGrpSpPr>
            <p:grpSpPr>
              <a:xfrm>
                <a:off x="1080000" y="1080000"/>
                <a:ext cx="2362320" cy="1559880"/>
                <a:chOff x="1080000" y="1080000"/>
                <a:chExt cx="2362320" cy="1559880"/>
              </a:xfrm>
            </p:grpSpPr>
            <p:sp>
              <p:nvSpPr>
                <p:cNvPr id="230" name="A1 Circle"/>
                <p:cNvSpPr/>
                <p:nvPr/>
              </p:nvSpPr>
              <p:spPr>
                <a:xfrm>
                  <a:off x="1893240" y="1080000"/>
                  <a:ext cx="735840" cy="898200"/>
                </a:xfrm>
                <a:prstGeom prst="ellipse">
                  <a:avLst/>
                </a:prstGeom>
                <a:solidFill>
                  <a:srgbClr val="1b2a4a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31" name="A1 Panel"/>
                <p:cNvSpPr/>
                <p:nvPr/>
              </p:nvSpPr>
              <p:spPr>
                <a:xfrm>
                  <a:off x="1080000" y="1505520"/>
                  <a:ext cx="2362320" cy="1134360"/>
                </a:xfrm>
                <a:prstGeom prst="roundRect">
                  <a:avLst/>
                </a:prstGeom>
                <a:solidFill>
                  <a:srgbClr val="1b2a4a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INPUT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32" name="A1 Label"/>
                <p:cNvSpPr txBox="1"/>
                <p:nvPr/>
              </p:nvSpPr>
              <p:spPr>
                <a:xfrm>
                  <a:off x="1312200" y="181260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A1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  <p:grpSp>
            <p:nvGrpSpPr>
              <p:cNvPr id="233" name="A2 Inner Group"/>
              <p:cNvGrpSpPr/>
              <p:nvPr/>
            </p:nvGrpSpPr>
            <p:grpSpPr>
              <a:xfrm>
                <a:off x="1080000" y="4200120"/>
                <a:ext cx="2362320" cy="1559880"/>
                <a:chOff x="1080000" y="4200120"/>
                <a:chExt cx="2362320" cy="1559880"/>
              </a:xfrm>
            </p:grpSpPr>
            <p:sp>
              <p:nvSpPr>
                <p:cNvPr id="234" name="A2 Circle"/>
                <p:cNvSpPr/>
                <p:nvPr/>
              </p:nvSpPr>
              <p:spPr>
                <a:xfrm>
                  <a:off x="1893240" y="4200120"/>
                  <a:ext cx="735840" cy="898200"/>
                </a:xfrm>
                <a:prstGeom prst="ellipse">
                  <a:avLst/>
                </a:prstGeom>
                <a:solidFill>
                  <a:srgbClr val="2aacb8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35" name="A2 Panel"/>
                <p:cNvSpPr/>
                <p:nvPr/>
              </p:nvSpPr>
              <p:spPr>
                <a:xfrm>
                  <a:off x="1080000" y="4625280"/>
                  <a:ext cx="2362320" cy="1134720"/>
                </a:xfrm>
                <a:prstGeom prst="roundRect">
                  <a:avLst/>
                </a:prstGeom>
                <a:solidFill>
                  <a:srgbClr val="2aacb8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INPUT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36" name="A2 Label"/>
                <p:cNvSpPr txBox="1"/>
                <p:nvPr/>
              </p:nvSpPr>
              <p:spPr>
                <a:xfrm>
                  <a:off x="1312200" y="493272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A2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</p:grpSp>
        <p:grpSp>
          <p:nvGrpSpPr>
            <p:cNvPr id="237" name="PROCESS Middle Group"/>
            <p:cNvGrpSpPr/>
            <p:nvPr/>
          </p:nvGrpSpPr>
          <p:grpSpPr>
            <a:xfrm>
              <a:off x="4758840" y="1080000"/>
              <a:ext cx="2362320" cy="4680000"/>
              <a:chOff x="4758840" y="1080000"/>
              <a:chExt cx="2362320" cy="4680000"/>
            </a:xfrm>
          </p:grpSpPr>
          <p:grpSp>
            <p:nvGrpSpPr>
              <p:cNvPr id="238" name="B1 Inner Group"/>
              <p:cNvGrpSpPr/>
              <p:nvPr/>
            </p:nvGrpSpPr>
            <p:grpSpPr>
              <a:xfrm>
                <a:off x="4758840" y="1080000"/>
                <a:ext cx="2362320" cy="1559880"/>
                <a:chOff x="4758840" y="1080000"/>
                <a:chExt cx="2362320" cy="1559880"/>
              </a:xfrm>
            </p:grpSpPr>
            <p:sp>
              <p:nvSpPr>
                <p:cNvPr id="239" name="B1 Circle"/>
                <p:cNvSpPr/>
                <p:nvPr/>
              </p:nvSpPr>
              <p:spPr>
                <a:xfrm>
                  <a:off x="5572080" y="1080000"/>
                  <a:ext cx="735840" cy="898200"/>
                </a:xfrm>
                <a:prstGeom prst="ellipse">
                  <a:avLst/>
                </a:prstGeom>
                <a:solidFill>
                  <a:srgbClr val="e8634a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40" name="B1 Panel"/>
                <p:cNvSpPr/>
                <p:nvPr/>
              </p:nvSpPr>
              <p:spPr>
                <a:xfrm>
                  <a:off x="4758840" y="1505520"/>
                  <a:ext cx="2362320" cy="1134360"/>
                </a:xfrm>
                <a:prstGeom prst="roundRect">
                  <a:avLst/>
                </a:prstGeom>
                <a:solidFill>
                  <a:srgbClr val="e8634a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PROCESS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41" name="B1 Label"/>
                <p:cNvSpPr txBox="1"/>
                <p:nvPr/>
              </p:nvSpPr>
              <p:spPr>
                <a:xfrm>
                  <a:off x="4991400" y="1812600"/>
                  <a:ext cx="189720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B1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  <p:grpSp>
            <p:nvGrpSpPr>
              <p:cNvPr id="242" name="B2 Inner Group"/>
              <p:cNvGrpSpPr/>
              <p:nvPr/>
            </p:nvGrpSpPr>
            <p:grpSpPr>
              <a:xfrm>
                <a:off x="4758840" y="4200120"/>
                <a:ext cx="2362320" cy="1559880"/>
                <a:chOff x="4758840" y="4200120"/>
                <a:chExt cx="2362320" cy="1559880"/>
              </a:xfrm>
            </p:grpSpPr>
            <p:sp>
              <p:nvSpPr>
                <p:cNvPr id="243" name="B2 Circle"/>
                <p:cNvSpPr/>
                <p:nvPr/>
              </p:nvSpPr>
              <p:spPr>
                <a:xfrm>
                  <a:off x="5572080" y="4200120"/>
                  <a:ext cx="735840" cy="898200"/>
                </a:xfrm>
                <a:prstGeom prst="ellipse">
                  <a:avLst/>
                </a:prstGeom>
                <a:solidFill>
                  <a:srgbClr val="d4a843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44" name="B2 Panel"/>
                <p:cNvSpPr/>
                <p:nvPr/>
              </p:nvSpPr>
              <p:spPr>
                <a:xfrm>
                  <a:off x="4758840" y="4625280"/>
                  <a:ext cx="2362320" cy="1134720"/>
                </a:xfrm>
                <a:prstGeom prst="roundRect">
                  <a:avLst/>
                </a:prstGeom>
                <a:solidFill>
                  <a:srgbClr val="d4a843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PROCESS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45" name="B2 Label"/>
                <p:cNvSpPr txBox="1"/>
                <p:nvPr/>
              </p:nvSpPr>
              <p:spPr>
                <a:xfrm>
                  <a:off x="4991400" y="4932720"/>
                  <a:ext cx="189720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B2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</p:grpSp>
        <p:grpSp>
          <p:nvGrpSpPr>
            <p:cNvPr id="246" name="OUTPUT Middle Group"/>
            <p:cNvGrpSpPr/>
            <p:nvPr/>
          </p:nvGrpSpPr>
          <p:grpSpPr>
            <a:xfrm>
              <a:off x="8437680" y="1080000"/>
              <a:ext cx="2362320" cy="4680000"/>
              <a:chOff x="8437680" y="1080000"/>
              <a:chExt cx="2362320" cy="4680000"/>
            </a:xfrm>
          </p:grpSpPr>
          <p:grpSp>
            <p:nvGrpSpPr>
              <p:cNvPr id="247" name="C1 Inner Group"/>
              <p:cNvGrpSpPr/>
              <p:nvPr/>
            </p:nvGrpSpPr>
            <p:grpSpPr>
              <a:xfrm>
                <a:off x="8437680" y="1080000"/>
                <a:ext cx="2362320" cy="1559880"/>
                <a:chOff x="8437680" y="1080000"/>
                <a:chExt cx="2362320" cy="1559880"/>
              </a:xfrm>
            </p:grpSpPr>
            <p:sp>
              <p:nvSpPr>
                <p:cNvPr id="248" name="C1 Circle"/>
                <p:cNvSpPr/>
                <p:nvPr/>
              </p:nvSpPr>
              <p:spPr>
                <a:xfrm>
                  <a:off x="9250920" y="1080000"/>
                  <a:ext cx="735840" cy="898200"/>
                </a:xfrm>
                <a:prstGeom prst="ellipse">
                  <a:avLst/>
                </a:prstGeom>
                <a:solidFill>
                  <a:srgbClr val="2aacb8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49" name="C1 Panel"/>
                <p:cNvSpPr/>
                <p:nvPr/>
              </p:nvSpPr>
              <p:spPr>
                <a:xfrm>
                  <a:off x="8437680" y="1505520"/>
                  <a:ext cx="2362320" cy="1134360"/>
                </a:xfrm>
                <a:prstGeom prst="roundRect">
                  <a:avLst/>
                </a:prstGeom>
                <a:solidFill>
                  <a:srgbClr val="2aacb8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OUTPUT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50" name="C1 Label"/>
                <p:cNvSpPr txBox="1"/>
                <p:nvPr/>
              </p:nvSpPr>
              <p:spPr>
                <a:xfrm>
                  <a:off x="8670240" y="181260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C1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  <p:grpSp>
            <p:nvGrpSpPr>
              <p:cNvPr id="251" name="C2 Inner Group"/>
              <p:cNvGrpSpPr/>
              <p:nvPr/>
            </p:nvGrpSpPr>
            <p:grpSpPr>
              <a:xfrm>
                <a:off x="8437680" y="4200120"/>
                <a:ext cx="2362320" cy="1559880"/>
                <a:chOff x="8437680" y="4200120"/>
                <a:chExt cx="2362320" cy="1559880"/>
              </a:xfrm>
            </p:grpSpPr>
            <p:sp>
              <p:nvSpPr>
                <p:cNvPr id="252" name="C2 Circle"/>
                <p:cNvSpPr/>
                <p:nvPr/>
              </p:nvSpPr>
              <p:spPr>
                <a:xfrm>
                  <a:off x="9250920" y="4200120"/>
                  <a:ext cx="735840" cy="898200"/>
                </a:xfrm>
                <a:prstGeom prst="ellipse">
                  <a:avLst/>
                </a:prstGeom>
                <a:solidFill>
                  <a:srgbClr val="1b2a4a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53" name="C2 Panel"/>
                <p:cNvSpPr/>
                <p:nvPr/>
              </p:nvSpPr>
              <p:spPr>
                <a:xfrm>
                  <a:off x="8437680" y="4625280"/>
                  <a:ext cx="2362320" cy="1134720"/>
                </a:xfrm>
                <a:prstGeom prst="roundRect">
                  <a:avLst/>
                </a:prstGeom>
                <a:solidFill>
                  <a:srgbClr val="1b2a4a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OUTPUT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54" name="C2 Label"/>
                <p:cNvSpPr txBox="1"/>
                <p:nvPr/>
              </p:nvSpPr>
              <p:spPr>
                <a:xfrm>
                  <a:off x="8670240" y="493272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C2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</p:grpSp>
      </p:grp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3BB281-A288-450F-944C-D238DAF6C1FF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Three Cities / </a:t>
            </a:r>
            <a:r>
              <a:rPr b="1" lang="zh-CN" sz="3600" spc="-1" strike="noStrike">
                <a:solidFill>
                  <a:srgbClr val="ffffff"/>
                </a:solidFill>
                <a:latin typeface="Carlito"/>
                <a:ea typeface="Carlito"/>
              </a:rPr>
              <a:t>三つの都市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56" name="Center Column Tiled Pattern"/>
          <p:cNvSpPr/>
          <p:nvPr/>
        </p:nvSpPr>
        <p:spPr>
          <a:xfrm>
            <a:off x="4386240" y="900000"/>
            <a:ext cx="3420000" cy="5220000"/>
          </a:xfrm>
          <a:prstGeom prst="rect">
            <a:avLst/>
          </a:prstGeom>
          <a:blipFill rotWithShape="0">
            <a:blip r:embed="rId1">
              <a:alphaModFix amt="20000"/>
            </a:blip>
            <a:tile/>
          </a:blipFill>
          <a:ln w="0">
            <a:noFill/>
          </a:ln>
        </p:spPr>
      </p:sp>
      <p:pic>
        <p:nvPicPr>
          <p:cNvPr id="257" name="" descr=""/>
          <p:cNvPicPr/>
          <p:nvPr/>
        </p:nvPicPr>
        <p:blipFill>
          <a:blip r:embed="rId2"/>
          <a:srcRect l="0" t="3543" r="0" b="3543"/>
          <a:stretch/>
        </p:blipFill>
        <p:spPr>
          <a:xfrm>
            <a:off x="642240" y="1080000"/>
            <a:ext cx="3420000" cy="1260000"/>
          </a:xfrm>
          <a:prstGeom prst="rect">
            <a:avLst/>
          </a:prstGeom>
          <a:ln w="0">
            <a:noFill/>
          </a:ln>
        </p:spPr>
      </p:pic>
      <p:sp>
        <p:nvSpPr>
          <p:cNvPr id="258" name=""/>
          <p:cNvSpPr txBox="1"/>
          <p:nvPr/>
        </p:nvSpPr>
        <p:spPr>
          <a:xfrm>
            <a:off x="642240" y="2484000"/>
            <a:ext cx="342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Carlito"/>
                <a:ea typeface="Carlito"/>
              </a:rPr>
              <a:t>Systems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42240" y="2952000"/>
            <a:ext cx="34200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Cities expose the systems beneath daily life: transport, energy, data, and the people who connect them.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60" name=""/>
          <p:cNvSpPr/>
          <p:nvPr/>
        </p:nvSpPr>
        <p:spPr>
          <a:xfrm>
            <a:off x="642240" y="4752000"/>
            <a:ext cx="3420000" cy="900000"/>
          </a:xfrm>
          <a:prstGeom prst="roundRect">
            <a:avLst/>
          </a:prstGeom>
          <a:solidFill>
            <a:srgbClr val="1b2a4a">
              <a:alpha val="80000"/>
            </a:srgbClr>
          </a:solidFill>
          <a:ln w="6480">
            <a:solidFill>
              <a:srgbClr val="2aacb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“</a:t>
            </a: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Structure makes the invisible legible.”</a:t>
            </a:r>
            <a:endParaRPr b="0" lang="en-US" sz="1200" spc="-1" strike="noStrike">
              <a:latin typeface="Liberation Sans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3"/>
          <a:srcRect l="0" t="12283" r="0" b="12283"/>
          <a:stretch/>
        </p:blipFill>
        <p:spPr>
          <a:xfrm>
            <a:off x="4386240" y="1080000"/>
            <a:ext cx="3420000" cy="1260000"/>
          </a:xfrm>
          <a:prstGeom prst="rect">
            <a:avLst/>
          </a:prstGeom>
          <a:ln w="0">
            <a:noFill/>
          </a:ln>
        </p:spPr>
      </p:pic>
      <p:sp>
        <p:nvSpPr>
          <p:cNvPr id="262" name=""/>
          <p:cNvSpPr txBox="1"/>
          <p:nvPr/>
        </p:nvSpPr>
        <p:spPr>
          <a:xfrm>
            <a:off x="4386240" y="2484000"/>
            <a:ext cx="342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Carlito"/>
                <a:ea typeface="Carlito"/>
              </a:rPr>
              <a:t>システム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386240" y="2952000"/>
            <a:ext cx="34200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生成されたスライドは構造と意味を保持します。</a:t>
            </a:r>
            <a:endParaRPr b="0" lang="en-US" sz="1200" spc="-1" strike="noStrike">
              <a:latin typeface="Liberation Sans"/>
            </a:endParaRPr>
          </a:p>
          <a:p>
            <a:r>
              <a:rPr b="0" lang="zh-CN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編集可能な構造が共有された理解を支えます。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64" name=""/>
          <p:cNvSpPr/>
          <p:nvPr/>
        </p:nvSpPr>
        <p:spPr>
          <a:xfrm>
            <a:off x="4386240" y="4752000"/>
            <a:ext cx="3420000" cy="900000"/>
          </a:xfrm>
          <a:prstGeom prst="roundRect">
            <a:avLst/>
          </a:prstGeom>
          <a:solidFill>
            <a:srgbClr val="1b2a4a">
              <a:alpha val="80000"/>
            </a:srgbClr>
          </a:solidFill>
          <a:ln w="6480">
            <a:solidFill>
              <a:srgbClr val="2aacb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“</a:t>
            </a:r>
            <a:r>
              <a:rPr b="1" lang="zh-CN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構造は意味を運びます。”</a:t>
            </a:r>
            <a:endParaRPr b="0" lang="en-US" sz="1200" spc="-1" strike="noStrike">
              <a:latin typeface="Liberation Sans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4"/>
          <a:srcRect l="0" t="3543" r="0" b="3543"/>
          <a:stretch/>
        </p:blipFill>
        <p:spPr>
          <a:xfrm>
            <a:off x="8130240" y="1080000"/>
            <a:ext cx="3420000" cy="1260000"/>
          </a:xfrm>
          <a:prstGeom prst="rect">
            <a:avLst/>
          </a:prstGeom>
          <a:ln w="0">
            <a:noFill/>
          </a:ln>
        </p:spPr>
      </p:pic>
      <p:sp>
        <p:nvSpPr>
          <p:cNvPr id="266" name=""/>
          <p:cNvSpPr txBox="1"/>
          <p:nvPr/>
        </p:nvSpPr>
        <p:spPr>
          <a:xfrm>
            <a:off x="8130240" y="2484000"/>
            <a:ext cx="342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Carlito"/>
                <a:ea typeface="Carlito"/>
              </a:rPr>
              <a:t>Shared Futures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8130240" y="2952000"/>
            <a:ext cx="34200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 common visual language lets teams compare evidence, preserve intent, and build toward shared futures.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68" name=""/>
          <p:cNvSpPr/>
          <p:nvPr/>
        </p:nvSpPr>
        <p:spPr>
          <a:xfrm>
            <a:off x="8130240" y="4752000"/>
            <a:ext cx="3420000" cy="900000"/>
          </a:xfrm>
          <a:prstGeom prst="roundRect">
            <a:avLst/>
          </a:prstGeom>
          <a:solidFill>
            <a:srgbClr val="1b2a4a">
              <a:alpha val="80000"/>
            </a:srgbClr>
          </a:solidFill>
          <a:ln w="6480">
            <a:solidFill>
              <a:srgbClr val="2aacb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“</a:t>
            </a: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Consistency is a form of trust.”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4632BE-58A6-4F38-9E5B-670369D947F0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Design System Audit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48000" y="1080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Typography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060000" y="972000"/>
            <a:ext cx="3240000" cy="54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Carlito 36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380000" y="1044000"/>
            <a:ext cx="360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Liberation Sans 18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48000" y="2052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Palette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76" name=""/>
          <p:cNvSpPr/>
          <p:nvPr/>
        </p:nvSpPr>
        <p:spPr>
          <a:xfrm>
            <a:off x="3060000" y="1944000"/>
            <a:ext cx="1800000" cy="504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277" name=""/>
          <p:cNvSpPr/>
          <p:nvPr/>
        </p:nvSpPr>
        <p:spPr>
          <a:xfrm>
            <a:off x="5220000" y="1944000"/>
            <a:ext cx="1800000" cy="504000"/>
          </a:xfrm>
          <a:prstGeom prst="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278" name=""/>
          <p:cNvSpPr/>
          <p:nvPr/>
        </p:nvSpPr>
        <p:spPr>
          <a:xfrm>
            <a:off x="7380000" y="1944000"/>
            <a:ext cx="1800000" cy="504000"/>
          </a:xfrm>
          <a:prstGeom prst="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279" name=""/>
          <p:cNvSpPr txBox="1"/>
          <p:nvPr/>
        </p:nvSpPr>
        <p:spPr>
          <a:xfrm>
            <a:off x="648000" y="3024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Spacing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80" name=""/>
          <p:cNvSpPr/>
          <p:nvPr/>
        </p:nvSpPr>
        <p:spPr>
          <a:xfrm>
            <a:off x="3060000" y="2952000"/>
            <a:ext cx="1440000" cy="432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281" name=""/>
          <p:cNvSpPr/>
          <p:nvPr/>
        </p:nvSpPr>
        <p:spPr>
          <a:xfrm>
            <a:off x="4680000" y="2952000"/>
            <a:ext cx="1440000" cy="432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282" name=""/>
          <p:cNvSpPr txBox="1"/>
          <p:nvPr/>
        </p:nvSpPr>
        <p:spPr>
          <a:xfrm>
            <a:off x="6480000" y="2952000"/>
            <a:ext cx="288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0.5cm token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648000" y="3996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Line Weight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84" name=""/>
          <p:cNvSpPr/>
          <p:nvPr/>
        </p:nvSpPr>
        <p:spPr>
          <a:xfrm>
            <a:off x="3060000" y="4140000"/>
            <a:ext cx="6120000" cy="0"/>
          </a:xfrm>
          <a:prstGeom prst="line">
            <a:avLst/>
          </a:prstGeom>
          <a:ln w="648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"/>
          <p:cNvSpPr txBox="1"/>
          <p:nvPr/>
        </p:nvSpPr>
        <p:spPr>
          <a:xfrm>
            <a:off x="9540000" y="3942000"/>
            <a:ext cx="180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0.5pt teal rule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48000" y="4968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Navigation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87" name="Return to Cover Internal Link"/>
          <p:cNvSpPr txBox="1"/>
          <p:nvPr/>
        </p:nvSpPr>
        <p:spPr>
          <a:xfrm>
            <a:off x="3060000" y="4860000"/>
            <a:ext cx="32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800" spc="-1" strike="noStrike" u="sng">
                <a:solidFill>
                  <a:srgbClr val="2aacb8"/>
                </a:solidFill>
                <a:uFillTx/>
                <a:latin typeface="Liberation Sans"/>
                <a:ea typeface="Liberation Sans"/>
                <a:hlinkClick r:id="rId1" action="ppaction://hlinksldjump"/>
              </a:rPr>
              <a:t>Return to Cover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88" name="Meet the Team Internal Link"/>
          <p:cNvSpPr txBox="1"/>
          <p:nvPr/>
        </p:nvSpPr>
        <p:spPr>
          <a:xfrm>
            <a:off x="7380000" y="4860000"/>
            <a:ext cx="32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800" spc="-1" strike="noStrike" u="sng">
                <a:solidFill>
                  <a:srgbClr val="2aacb8"/>
                </a:solidFill>
                <a:uFillTx/>
                <a:latin typeface="Liberation Sans"/>
                <a:ea typeface="Liberation Sans"/>
                <a:hlinkClick r:id="rId2" action="ppaction://hlinksldjump"/>
              </a:rPr>
              <a:t>Meet the Team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C16F42-D2F9-4214-ADE1-4A6A9D4D629B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AcidSlide Synthesis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290" name="Synthesis Native Line Chart"/>
          <p:cNvGraphicFramePr/>
          <p:nvPr/>
        </p:nvGraphicFramePr>
        <p:xfrm>
          <a:off x="540000" y="1080000"/>
          <a:ext cx="378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91" name="Synthesis Native Table"/>
          <p:cNvGraphicFramePr/>
          <p:nvPr/>
        </p:nvGraphicFramePr>
        <p:xfrm>
          <a:off x="4680000" y="1080000"/>
          <a:ext cx="6840000" cy="1620000"/>
        </p:xfrm>
        <a:graphic>
          <a:graphicData uri="http://schemas.openxmlformats.org/drawingml/2006/table">
            <a:tbl>
              <a:tblPr/>
              <a:tblGrid>
                <a:gridCol w="1139760"/>
                <a:gridCol w="1139760"/>
                <a:gridCol w="1139760"/>
                <a:gridCol w="1139760"/>
                <a:gridCol w="1139760"/>
                <a:gridCol w="1139760"/>
              </a:tblGrid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Tier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Slides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Checks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SSIM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Schema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Status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</a:tr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L1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5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70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0.9999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Ready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L3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20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280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0.9999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Ready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292" name="Synthesis Approved Hero" descr=""/>
          <p:cNvPicPr/>
          <p:nvPr/>
        </p:nvPicPr>
        <p:blipFill>
          <a:blip r:embed="rId2"/>
          <a:srcRect l="3937" t="0" r="0" b="0"/>
          <a:stretch/>
        </p:blipFill>
        <p:spPr>
          <a:xfrm>
            <a:off x="4680000" y="2880000"/>
            <a:ext cx="2340000" cy="1512000"/>
          </a:xfrm>
          <a:prstGeom prst="rect">
            <a:avLst/>
          </a:prstGeom>
          <a:ln w="0">
            <a:noFill/>
          </a:ln>
        </p:spPr>
      </p:pic>
      <p:sp>
        <p:nvSpPr>
          <p:cNvPr id="293" name=""/>
          <p:cNvSpPr txBox="1"/>
          <p:nvPr/>
        </p:nvSpPr>
        <p:spPr>
          <a:xfrm>
            <a:off x="7380000" y="2844000"/>
            <a:ext cx="1800000" cy="5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1" lang="hi-IN" sz="1600" spc="-1" strike="noStrike">
                <a:solidFill>
                  <a:srgbClr val="ffffff"/>
                </a:solidFill>
                <a:latin typeface="Noto Sans Arabic"/>
                <a:cs typeface="Noto Sans Arabic"/>
              </a:rPr>
              <a:t>اختبار شامل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380000" y="3312000"/>
            <a:ext cx="180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JP"/>
                <a:ea typeface="Noto Sans CJK JP"/>
              </a:rPr>
              <a:t>総合テスト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95" name="Synthesis Rotated Text"/>
          <p:cNvSpPr txBox="1"/>
          <p:nvPr/>
        </p:nvSpPr>
        <p:spPr>
          <a:xfrm rot="2700000">
            <a:off x="576000" y="3636000"/>
            <a:ext cx="180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rlito"/>
                <a:ea typeface="Carlito"/>
              </a:rPr>
              <a:t>ROTATED</a:t>
            </a:r>
            <a:endParaRPr b="0" lang="en-US" sz="1800" spc="-1" strike="noStrike">
              <a:latin typeface="Liberation Sans"/>
            </a:endParaRPr>
          </a:p>
        </p:txBody>
      </p:sp>
      <p:grpSp>
        <p:nvGrpSpPr>
          <p:cNvPr id="296" name="Synthesis Overlap Outer Group"/>
          <p:cNvGrpSpPr/>
          <p:nvPr/>
        </p:nvGrpSpPr>
        <p:grpSpPr>
          <a:xfrm>
            <a:off x="2160000" y="3528000"/>
            <a:ext cx="2340000" cy="1296000"/>
            <a:chOff x="2160000" y="3528000"/>
            <a:chExt cx="2340000" cy="1296000"/>
          </a:xfrm>
        </p:grpSpPr>
        <p:grpSp>
          <p:nvGrpSpPr>
            <p:cNvPr id="297" name="Synthesis Overlap Inner Group"/>
            <p:cNvGrpSpPr/>
            <p:nvPr/>
          </p:nvGrpSpPr>
          <p:grpSpPr>
            <a:xfrm>
              <a:off x="2160000" y="3528000"/>
              <a:ext cx="2340000" cy="1116000"/>
              <a:chOff x="2160000" y="3528000"/>
              <a:chExt cx="2340000" cy="1116000"/>
            </a:xfrm>
          </p:grpSpPr>
          <p:sp>
            <p:nvSpPr>
              <p:cNvPr id="298" name=""/>
              <p:cNvSpPr/>
              <p:nvPr/>
            </p:nvSpPr>
            <p:spPr>
              <a:xfrm>
                <a:off x="2160000" y="3528000"/>
                <a:ext cx="1080000" cy="1080000"/>
              </a:xfrm>
              <a:prstGeom prst="ellipse">
                <a:avLst/>
              </a:prstGeom>
              <a:solidFill>
                <a:srgbClr val="1b2a4a">
                  <a:alpha val="65000"/>
                </a:srgbClr>
              </a:solidFill>
              <a:ln w="0">
                <a:noFill/>
              </a:ln>
            </p:spPr>
          </p:sp>
          <p:sp>
            <p:nvSpPr>
              <p:cNvPr id="299" name=""/>
              <p:cNvSpPr/>
              <p:nvPr/>
            </p:nvSpPr>
            <p:spPr>
              <a:xfrm>
                <a:off x="2736000" y="3708000"/>
                <a:ext cx="1260000" cy="936000"/>
              </a:xfrm>
              <a:prstGeom prst="roundRect">
                <a:avLst/>
              </a:prstGeom>
              <a:solidFill>
                <a:srgbClr val="e8634a">
                  <a:alpha val="65000"/>
                </a:srgbClr>
              </a:solidFill>
              <a:ln w="0">
                <a:noFill/>
              </a:ln>
            </p:spPr>
          </p:sp>
          <p:sp>
            <p:nvSpPr>
              <p:cNvPr id="300" name=""/>
              <p:cNvSpPr/>
              <p:nvPr/>
            </p:nvSpPr>
            <p:spPr>
              <a:xfrm>
                <a:off x="3420000" y="3528000"/>
                <a:ext cx="1080000" cy="1080000"/>
              </a:xfrm>
              <a:prstGeom prst="ellipse">
                <a:avLst/>
              </a:prstGeom>
              <a:solidFill>
                <a:srgbClr val="2aacb8">
                  <a:alpha val="65000"/>
                </a:srgbClr>
              </a:solidFill>
              <a:ln w="0">
                <a:noFill/>
              </a:ln>
            </p:spPr>
          </p:sp>
        </p:grpSp>
        <p:sp>
          <p:nvSpPr>
            <p:cNvPr id="301" name=""/>
            <p:cNvSpPr txBox="1"/>
            <p:nvPr/>
          </p:nvSpPr>
          <p:spPr>
            <a:xfrm>
              <a:off x="2484000" y="4536000"/>
              <a:ext cx="1872000" cy="288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0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2-LEVEL GROUP</a:t>
              </a:r>
              <a:endParaRPr b="0" lang="en-US" sz="1000" spc="-1" strike="noStrike">
                <a:latin typeface="Liberation Sans"/>
              </a:endParaRPr>
            </a:p>
          </p:txBody>
        </p:sp>
      </p:grpSp>
      <p:sp>
        <p:nvSpPr>
          <p:cNvPr id="302" name="Synthesis Navy Teal Gradient"/>
          <p:cNvSpPr/>
          <p:nvPr/>
        </p:nvSpPr>
        <p:spPr>
          <a:xfrm>
            <a:off x="9000000" y="4032000"/>
            <a:ext cx="2520000" cy="792000"/>
          </a:xfrm>
          <a:prstGeom prst="roundRect">
            <a:avLst/>
          </a:prstGeom>
          <a:gradFill rotWithShape="0">
            <a:gsLst>
              <a:gs pos="0">
                <a:srgbClr val="1b2a4a"/>
              </a:gs>
              <a:gs pos="100000">
                <a:srgbClr val="2aacb8"/>
              </a:gs>
            </a:gsLst>
            <a:lin ang="0"/>
          </a:gradFill>
          <a:ln w="0">
            <a:noFill/>
          </a:ln>
        </p:spPr>
      </p:sp>
      <p:sp>
        <p:nvSpPr>
          <p:cNvPr id="303" name=""/>
          <p:cNvSpPr txBox="1"/>
          <p:nvPr/>
        </p:nvSpPr>
        <p:spPr>
          <a:xfrm>
            <a:off x="9108000" y="4176000"/>
            <a:ext cx="230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NATIVE GRADIENT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304" name="Synthesis Native Bullet List"/>
          <p:cNvSpPr txBox="1"/>
          <p:nvPr/>
        </p:nvSpPr>
        <p:spPr>
          <a:xfrm>
            <a:off x="540000" y="5040000"/>
            <a:ext cx="450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144000">
              <a:buClr>
                <a:srgbClr val="f5f3ee"/>
              </a:buClr>
              <a:buFont typeface="Liberation Sans"/>
              <a:buChar char="•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Native structure retained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f5f3ee"/>
              </a:buClr>
              <a:buFont typeface="Liberation Sans"/>
              <a:buChar char="•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Multilingual meaning preserved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f5f3ee"/>
              </a:buClr>
              <a:buFont typeface="Liberation Sans"/>
              <a:buChar char="•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Rendered fidelity verified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305" name="Synthesis Live Slide Number Field"/>
          <p:cNvSpPr txBox="1"/>
          <p:nvPr/>
        </p:nvSpPr>
        <p:spPr>
          <a:xfrm>
            <a:off x="8100000" y="5148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Live slide: </a:t>
            </a:r>
            <a:fld id="{1D897065-BA4F-43B2-AEBC-2EA83F65C9DF}" type="slidenum"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&lt;number&gt;</a:t>
            </a:fld>
            <a:endParaRPr b="0" lang="en-US" sz="18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AcidSlide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594C48-2CBD-4946-BF22-D7227D0340EC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aacb8"/>
      </a:hlink>
      <a:folHlink>
        <a:srgbClr val="2aacb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AcidSlide</dc:creator>
  <dc:description/>
  <dc:language>en-US</dc:language>
  <cp:lastModifiedBy/>
  <dcterms:modified xsi:type="dcterms:W3CDTF">2025-01-01T00:00:02Z</dcterms:modified>
  <cp:revision>1</cp:revision>
  <dc:subject>LibreOffice-authored AcidSlide benchmark candidate</dc:subject>
  <dc:title>AcidSlide v1 Gold Candidate</dc:title>
</cp:coreProperties>
</file>